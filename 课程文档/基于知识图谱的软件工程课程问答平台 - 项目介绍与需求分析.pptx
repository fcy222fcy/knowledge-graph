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79" r:id="rId13"/>
    <p:sldId id="261" r:id="rId14"/>
    <p:sldId id="262" r:id="rId15"/>
    <p:sldId id="263" r:id="rId16"/>
    <p:sldId id="264" r:id="rId17"/>
    <p:sldId id="265" r:id="rId18"/>
    <p:sldId id="267" r:id="rId19"/>
    <p:sldId id="275" r:id="rId20"/>
    <p:sldId id="276" r:id="rId21"/>
    <p:sldId id="272" r:id="rId22"/>
    <p:sldId id="278" r:id="rId23"/>
    <p:sldId id="273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90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90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介绍我们的项目——“基于知识图谱的软件工程课程问答平台”。在软件工程领域知识飞速发展的今天，传统的学习方式面临诸多挑战。我们的项目旨在通过知识图谱和人工智能技术，构建一个智能化的学习与互动平台，解决学生在知识获取、体系构建和评估反馈方面的痛点，从而提升教与学的效率。接下来，我将从项目概述、需求分析和系统设计三个方面进行详细阐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本次汇报将分为三个部分。首先，我会介绍项目的背景和我们设定的核心目标。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其次，我们将深入进行需求分析，包括详细的功能需求、非功能需求，并展示系统的功能模块拆解、可扩展性设计以及核心用例。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最后，我将阐述系统的整体技术路线、关键业务流程的顺序图以及核心的类图设计。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希望通过这次汇报，能让大家对我们的项目有一个全面而深入的了解。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首先，我们进入第一部分：项目概述。在这一部分，我们将探讨项目发起的背景，以及我们希望通过这个平台达成的具体目标。理解这些背景和目标，是把握整个项目设计初衷和价值的关键。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为什么要做这个项目？根本原因在于传统学习模式已经难以适应软件工程领域的快速发展。学生们普遍面临四大痛点：首先，知识获取效率低下，在海量信息中找答案如同大海捞针；其次，知识体系零散，学过的知识点无法串联成网；再者，评估方式单一，无法得到及时、个性化的反馈；最后，教学资源更新缓慢，所学内容可能已经落后。我们的平台正是为了解决这些问题而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痛点，我们设定了五大核心目标。第一，构建结构化的知识体系，让知识不再是零散的文本。第二，提供精准的智能问答服务，让学生的疑问得到即时解答。第三，实现自动化的题目生成，帮助教师高效地创建练习。第四，建立个性化的学习评估体系，让学生清晰地了解自己的学习状况。最后，通过便捷的后台管理，全面提升教学与管理的效率。我们的目标用户主要是软件工程专业的学生、教师以及平台管理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为了实现高内聚、低耦合，我们对系统功能进行了模块化拆解。前端展示层基于Vue 3构建，负责用户交互。后端服务层使用Go语言，作为API网关和业务逻辑处理中心。AI服务层是一个独立的Python微服务，专门处理计算密集型的AI任务。数据存储层则根据数据类型分别使用了关系型数据库、Neo4j图数据库和FAISS向量数据库。这种分层解耦的设计使得系统更加灵活和易于维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接下来，我们进入第二部分：需求分析。在这一部分，我们将详细拆解系统需要实现的功能和必须满足的非功能约束，这是整个系统设计的基石。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功能需求方面，我们首先定义了三类核心用户角色。学生是平台的主要使用者，他们可以提问、答题并查看学习报告。教师负责内容的提供和审核，包括上传文档和管理题目。而管理员则负责整个平台的运营维护，包括课程和用户管理。清晰的角色划分确保了系统功能的合理分配和数据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核心功能主要分为五大模块。首先是“文档管理”模块，这是知识的入口，教师上传文档后，系统会自动完成从解析、知识抽取到图谱构建的全过程。其次是“问答检索”模块，这是学生最常使用的功能，通过自然语言提问，系统能快速返回精准答案并附上来源和相关知识点，帮助学生深入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“题目生成”模块，它能基于知识图谱自动出题，并由教师审核发布，极大地丰富了教学资源。第四是“学习评估”模块，通过分析学生的答题记录，系统能生成可视化的学习报告，帮助学生查漏补缺。最后是“管理后台”，为管理员提供了全面的系统配置和用户管理工具，保障平台的稳定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功能需求，我们还定义了严格的非功能需求。在性能上，我们要求问答响应快、文档处理效率高，并支持一定的并发用户。安全性方面，我们涵盖了从用户认证到数据加密的全流程。可用性和可维护性则确保了系统的稳定运行和未来的持续迭代能力。这些非功能需求是保证系统质量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具备良好的可扩展性。在功能上，未来可以轻松扩展到多语言支持、知识图谱可视化和智能推荐。在性能上，我们预留了异步处理和检索优化的空间。在用户体验上，移动端适配和交互优化也是我们未来的规划方向。这种前瞻性的设计确保了系统能够适应未来的发展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展示了两个核心业务流程的顺序。第一个是“文档上传与知识构建”流程，用户上传文档后，请求经过前端、后端，最终由AI服务完成复杂的处理和数据写入。第二个是“问答检索”流程，学生的问题同样经过层层传递，由AI服务进行向量检索和图谱查询，最终生成答案返回给用户。这两个流程清晰地展示了系统各模块之间的协作方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这是我们系统核心的类图设计。我们定义了用户、课程、文档、实体、题目等关键类，并明确了它们之间的关系。例如，一个课程包含多个文档和题目，一个用户拥有多条答题记录。这个类图是我们数据库设计和业务逻辑实现的基础，它清晰地反映了系统的数据结构和实体间的关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这是我们系统核心的类图设计。我们定义了用户、课程、文档、实体、题目等关键类，并明确了它们之间的关系。例如，一个课程包含多个文档和题目，一个用户拥有多条答题记录。这个类图是我们数据库设计和业务逻辑实现的基础，它清晰地反映了系统的数据结构和实体间的关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我的汇报到此结束。我们相信，通过这个基于知识图谱的问答平台，能够有效解决软件工程教学中的痛点，为师生带来更高效、更智能的学习体验。感谢大家的聆听！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5.sv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7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tags" Target="../tags/tag15.xml"/><Relationship Id="rId38" Type="http://schemas.openxmlformats.org/officeDocument/2006/relationships/notesSlide" Target="../notesSlides/notesSlide6.xml"/><Relationship Id="rId37" Type="http://schemas.openxmlformats.org/officeDocument/2006/relationships/slideLayout" Target="../slideLayouts/slideLayout15.xml"/><Relationship Id="rId36" Type="http://schemas.openxmlformats.org/officeDocument/2006/relationships/tags" Target="../tags/tag39.xml"/><Relationship Id="rId35" Type="http://schemas.openxmlformats.org/officeDocument/2006/relationships/tags" Target="../tags/tag38.xml"/><Relationship Id="rId34" Type="http://schemas.openxmlformats.org/officeDocument/2006/relationships/tags" Target="../tags/tag37.xml"/><Relationship Id="rId33" Type="http://schemas.openxmlformats.org/officeDocument/2006/relationships/image" Target="../media/image25.svg"/><Relationship Id="rId32" Type="http://schemas.openxmlformats.org/officeDocument/2006/relationships/image" Target="../media/image24.png"/><Relationship Id="rId31" Type="http://schemas.openxmlformats.org/officeDocument/2006/relationships/tags" Target="../tags/tag36.xml"/><Relationship Id="rId30" Type="http://schemas.openxmlformats.org/officeDocument/2006/relationships/tags" Target="../tags/tag35.xml"/><Relationship Id="rId3" Type="http://schemas.openxmlformats.org/officeDocument/2006/relationships/tags" Target="../tags/tag14.xml"/><Relationship Id="rId29" Type="http://schemas.openxmlformats.org/officeDocument/2006/relationships/tags" Target="../tags/tag34.xml"/><Relationship Id="rId28" Type="http://schemas.openxmlformats.org/officeDocument/2006/relationships/tags" Target="../tags/tag33.xml"/><Relationship Id="rId27" Type="http://schemas.openxmlformats.org/officeDocument/2006/relationships/tags" Target="../tags/tag32.xml"/><Relationship Id="rId26" Type="http://schemas.openxmlformats.org/officeDocument/2006/relationships/tags" Target="../tags/tag31.xml"/><Relationship Id="rId25" Type="http://schemas.openxmlformats.org/officeDocument/2006/relationships/tags" Target="../tags/tag30.xml"/><Relationship Id="rId24" Type="http://schemas.openxmlformats.org/officeDocument/2006/relationships/image" Target="../media/image23.svg"/><Relationship Id="rId23" Type="http://schemas.openxmlformats.org/officeDocument/2006/relationships/image" Target="../media/image22.png"/><Relationship Id="rId22" Type="http://schemas.openxmlformats.org/officeDocument/2006/relationships/tags" Target="../tags/tag29.xml"/><Relationship Id="rId21" Type="http://schemas.openxmlformats.org/officeDocument/2006/relationships/tags" Target="../tags/tag28.xml"/><Relationship Id="rId20" Type="http://schemas.openxmlformats.org/officeDocument/2006/relationships/tags" Target="../tags/tag27.xml"/><Relationship Id="rId2" Type="http://schemas.openxmlformats.org/officeDocument/2006/relationships/tags" Target="../tags/tag13.xml"/><Relationship Id="rId19" Type="http://schemas.openxmlformats.org/officeDocument/2006/relationships/tags" Target="../tags/tag26.xml"/><Relationship Id="rId18" Type="http://schemas.openxmlformats.org/officeDocument/2006/relationships/tags" Target="../tags/tag25.xml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image" Target="../media/image21.svg"/><Relationship Id="rId14" Type="http://schemas.openxmlformats.org/officeDocument/2006/relationships/image" Target="../media/image20.png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5.svg"/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svg"/><Relationship Id="rId8" Type="http://schemas.openxmlformats.org/officeDocument/2006/relationships/image" Target="../media/image38.png"/><Relationship Id="rId7" Type="http://schemas.openxmlformats.org/officeDocument/2006/relationships/image" Target="../media/image29.svg"/><Relationship Id="rId6" Type="http://schemas.openxmlformats.org/officeDocument/2006/relationships/image" Target="../media/image2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43.svg"/><Relationship Id="rId12" Type="http://schemas.openxmlformats.org/officeDocument/2006/relationships/image" Target="../media/image42.png"/><Relationship Id="rId11" Type="http://schemas.openxmlformats.org/officeDocument/2006/relationships/image" Target="../media/image41.svg"/><Relationship Id="rId10" Type="http://schemas.openxmlformats.org/officeDocument/2006/relationships/image" Target="../media/image40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svg"/><Relationship Id="rId8" Type="http://schemas.openxmlformats.org/officeDocument/2006/relationships/image" Target="../media/image50.png"/><Relationship Id="rId7" Type="http://schemas.openxmlformats.org/officeDocument/2006/relationships/image" Target="../media/image49.svg"/><Relationship Id="rId6" Type="http://schemas.openxmlformats.org/officeDocument/2006/relationships/image" Target="../media/image48.png"/><Relationship Id="rId5" Type="http://schemas.openxmlformats.org/officeDocument/2006/relationships/image" Target="../media/image47.svg"/><Relationship Id="rId4" Type="http://schemas.openxmlformats.org/officeDocument/2006/relationships/image" Target="../media/image46.png"/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3.png"/><Relationship Id="rId1" Type="http://schemas.openxmlformats.org/officeDocument/2006/relationships/image" Target="../media/image6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5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基于知识图谱的软件工程课程问答平台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30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项目介绍与需求分析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F232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080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INTELLIGENT Q&amp;A SYSTEM ·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254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460500"/>
            <a:ext cx="762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4023360" y="1475740"/>
            <a:ext cx="2540000" cy="4064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3175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4277360" y="185674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4277360" y="2999740"/>
            <a:ext cx="203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4"/>
            </p:custDataLst>
          </p:nvPr>
        </p:nvCxnSpPr>
        <p:spPr>
          <a:xfrm rot="-21485">
            <a:off x="4277380" y="362839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4277360" y="3888740"/>
            <a:ext cx="2032000" cy="12979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项目建设背景分析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项目核心目标设定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2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项目</a:t>
            </a:r>
            <a:r>
              <a:rPr lang="zh-CN" altLang="en-US" sz="12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技术路线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8295640" y="1460500"/>
            <a:ext cx="2540000" cy="4064000"/>
            <a:chOff x="10736" y="2324"/>
            <a:chExt cx="4000" cy="6400"/>
          </a:xfrm>
        </p:grpSpPr>
        <p:sp>
          <p:nvSpPr>
            <p:cNvPr id="9" name="AutoShape 9"/>
            <p:cNvSpPr/>
            <p:nvPr>
              <p:custDataLst>
                <p:tags r:id="rId7"/>
              </p:custDataLst>
            </p:nvPr>
          </p:nvSpPr>
          <p:spPr>
            <a:xfrm>
              <a:off x="10736" y="2324"/>
              <a:ext cx="4000" cy="6400"/>
            </a:xfrm>
            <a:prstGeom prst="roundRect">
              <a:avLst>
                <a:gd name="adj" fmla="val 8000"/>
              </a:avLst>
            </a:prstGeom>
            <a:solidFill>
              <a:srgbClr val="FFFFFF">
                <a:alpha val="95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317500" dist="76200" dir="2700000" algn="tl" rotWithShape="0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>
              <p:custDataLst>
                <p:tags r:id="rId8"/>
              </p:custDataLst>
            </p:nvPr>
          </p:nvSpPr>
          <p:spPr>
            <a:xfrm>
              <a:off x="11136" y="2924"/>
              <a:ext cx="3200" cy="1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6400" b="1" i="0" u="none" strike="noStrike">
                  <a:solidFill>
                    <a:srgbClr val="3B82F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02</a:t>
              </a:r>
              <a:endParaRPr lang="en-US" sz="1100"/>
            </a:p>
          </p:txBody>
        </p:sp>
        <p:sp>
          <p:nvSpPr>
            <p:cNvPr id="11" name="AutoShape 11"/>
            <p:cNvSpPr/>
            <p:nvPr>
              <p:custDataLst>
                <p:tags r:id="rId9"/>
              </p:custDataLst>
            </p:nvPr>
          </p:nvSpPr>
          <p:spPr>
            <a:xfrm>
              <a:off x="11136" y="4724"/>
              <a:ext cx="3200" cy="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需求分析</a:t>
              </a:r>
              <a:endParaRPr lang="en-US" sz="1100"/>
            </a:p>
          </p:txBody>
        </p:sp>
        <p:cxnSp>
          <p:nvCxnSpPr>
            <p:cNvPr id="12" name="Connector 12"/>
            <p:cNvCxnSpPr/>
            <p:nvPr>
              <p:custDataLst>
                <p:tags r:id="rId10"/>
              </p:custDataLst>
            </p:nvPr>
          </p:nvCxnSpPr>
          <p:spPr>
            <a:xfrm rot="-21485">
              <a:off x="11136" y="5714"/>
              <a:ext cx="32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AutoShape 13"/>
            <p:cNvSpPr/>
            <p:nvPr>
              <p:custDataLst>
                <p:tags r:id="rId11"/>
              </p:custDataLst>
            </p:nvPr>
          </p:nvSpPr>
          <p:spPr>
            <a:xfrm>
              <a:off x="11136" y="6024"/>
              <a:ext cx="3200" cy="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 功能与非功能需求定义</a:t>
              </a:r>
              <a:endParaRPr lang="en-US" sz="1100"/>
            </a:p>
            <a:p>
              <a:pPr indent="0" algn="l">
                <a:lnSpc>
                  <a:spcPct val="117000"/>
                </a:lnSpc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 系统功能模块拆解方案</a:t>
              </a:r>
              <a:endPara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17000"/>
                </a:lnSpc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 系统可扩展性与用例图</a:t>
              </a:r>
              <a:endPara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826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 OVERVIEW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项目背景：传统学习模式的挑战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4572000" cy="4318000"/>
          </a:xfrm>
          <a:prstGeom prst="roundRect">
            <a:avLst>
              <a:gd name="adj" fmla="val 4705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196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应对挑战 · 项目愿景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270000" y="2476500"/>
            <a:ext cx="4064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70000" y="2794000"/>
            <a:ext cx="406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随着软件工程领域知识的快速迭代与爆炸式增长，传统的课程教学与学习模式面临着严峻挑战。海量资料分散、知识点关联隐藏、评估方式僵化以及资源更新缓慢，严重制约了教与学的效率。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为此，我们提出构建“基于知识图谱的软件工程课程问答平台”，旨在利用知识图谱等先进技术，重构知识组织形式，打造智能化的学习环境。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969000" y="1651000"/>
            <a:ext cx="2603500" cy="203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223000" y="1905000"/>
            <a:ext cx="609600" cy="609600"/>
          </a:xfrm>
          <a:prstGeom prst="ellipse">
            <a:avLst/>
          </a:prstGeom>
          <a:solidFill>
            <a:srgbClr val="60A5FA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75400" y="2057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9558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知识获取低效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667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海量资料分散无序，学生难以在繁杂信息中快速定位所需知识点。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763000" y="1651000"/>
            <a:ext cx="2603500" cy="203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017000" y="1905000"/>
            <a:ext cx="609600" cy="609600"/>
          </a:xfrm>
          <a:prstGeom prst="ellipse">
            <a:avLst/>
          </a:prstGeom>
          <a:solidFill>
            <a:srgbClr val="60A5FA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9400" y="2057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779000" y="19558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知识体系零散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017000" y="2667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知识点间的内在关联被隐藏，学生无法将碎片化知识构建成系统化网络。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969000" y="3937000"/>
            <a:ext cx="2603500" cy="203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23000" y="4191000"/>
            <a:ext cx="609600" cy="609600"/>
          </a:xfrm>
          <a:prstGeom prst="ellipse">
            <a:avLst/>
          </a:prstGeom>
          <a:solidFill>
            <a:srgbClr val="60A5FA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5400" y="4343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42418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评估方式单一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4953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过度依赖传统考试，难以全面、动态、个性化地评估学生的真实学习效果。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763000" y="3937000"/>
            <a:ext cx="2603500" cy="203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017000" y="4191000"/>
            <a:ext cx="609600" cy="609600"/>
          </a:xfrm>
          <a:prstGeom prst="ellipse">
            <a:avLst/>
          </a:prstGeom>
          <a:solidFill>
            <a:srgbClr val="60A5FA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69400" y="43434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779000" y="42418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资源更新滞后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017000" y="4953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教师手动更新资料耗时费力，导致教学内容往往滞后于行业技术的发展速度。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项目目标：构建智能化课程平台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778000"/>
            <a:ext cx="1905000" cy="4064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1905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460500" y="2159000"/>
            <a:ext cx="1016000" cy="1016000"/>
          </a:xfrm>
          <a:prstGeom prst="ellipse">
            <a:avLst/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3700" y="23622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143000" y="34290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构建结构化</a:t>
            </a:r>
            <a:b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知识体系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06500" y="4318000"/>
            <a:ext cx="152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将课程文档转化为知识图谱，实现知识的结构化存储与可视化展示。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175000" y="1778000"/>
            <a:ext cx="1905000" cy="4064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175000" y="1778000"/>
            <a:ext cx="1905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619500" y="2159000"/>
            <a:ext cx="1016000" cy="1016000"/>
          </a:xfrm>
          <a:prstGeom prst="ellipse">
            <a:avLst/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2700" y="23622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302000" y="34290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精准智能</a:t>
            </a:r>
            <a:b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问答服务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365500" y="4318000"/>
            <a:ext cx="152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基于知识图谱与向量数据库，为学生提供快速、准确的自然语言问答支持。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334000" y="1778000"/>
            <a:ext cx="1905000" cy="4064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334000" y="1778000"/>
            <a:ext cx="1905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778500" y="2159000"/>
            <a:ext cx="1016000" cy="1016000"/>
          </a:xfrm>
          <a:prstGeom prst="ellipse">
            <a:avLst/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1700" y="23622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461000" y="34290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</a:t>
            </a:r>
            <a:b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题目生成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524500" y="4318000"/>
            <a:ext cx="152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利用图谱自动生成多类型练习题，极大丰富教学资源库，减轻出题负担。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493000" y="1778000"/>
            <a:ext cx="1905000" cy="4064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493000" y="1778000"/>
            <a:ext cx="1905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937500" y="2159000"/>
            <a:ext cx="1016000" cy="1016000"/>
          </a:xfrm>
          <a:prstGeom prst="ellipse">
            <a:avLst/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40700" y="2362200"/>
            <a:ext cx="609600" cy="609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620000" y="34290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个性化</a:t>
            </a:r>
            <a:b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学习评估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83500" y="4318000"/>
            <a:ext cx="152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分析答题记录，自动评估知识点掌握度，生成可视化的学习成长报告。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652000" y="1778000"/>
            <a:ext cx="1905000" cy="4064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652000" y="1778000"/>
            <a:ext cx="1905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10096500" y="2159000"/>
            <a:ext cx="1016000" cy="1016000"/>
          </a:xfrm>
          <a:prstGeom prst="ellipse">
            <a:avLst/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99700" y="2362200"/>
            <a:ext cx="609600" cy="609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779000" y="34290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提升教学</a:t>
            </a:r>
            <a:b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管理效率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842500" y="4318000"/>
            <a:ext cx="152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提供便捷的后台管理功能，优化课程发布流程，全面减轻教师的教学负担。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总体技术路线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1016000" y="1651000"/>
            <a:ext cx="4953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1016000" y="1651000"/>
            <a:ext cx="76200" cy="2159000"/>
          </a:xfrm>
          <a:prstGeom prst="roundRect">
            <a:avLst>
              <a:gd name="adj" fmla="val 20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397000" y="1968500"/>
            <a:ext cx="812800" cy="812800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0200" y="21717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2413000" y="1968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前端展示层 (Vue 3)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2413000" y="2413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用户交互与界面渲染核心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2413000" y="2794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负责用户界面的渲染和交互逻辑，通过标准 HTTP/REST API 与后端服务进行实时数据通信。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6223000" y="1651000"/>
            <a:ext cx="4953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6223000" y="1651000"/>
            <a:ext cx="76200" cy="2159000"/>
          </a:xfrm>
          <a:prstGeom prst="roundRect">
            <a:avLst>
              <a:gd name="adj" fmla="val 20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6604000" y="1968500"/>
            <a:ext cx="812800" cy="812800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807200" y="21717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7620000" y="1968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后端服务层 (Go + Gin)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7620000" y="2413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业务逻辑与API网关中枢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7620000" y="2794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系统的核心处理引擎，负责接收前端请求、执行业务规则，并高效协调底层各个微服务的调用。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1016000" y="4064000"/>
            <a:ext cx="4953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1016000" y="4064000"/>
            <a:ext cx="76200" cy="2159000"/>
          </a:xfrm>
          <a:prstGeom prst="roundRect">
            <a:avLst>
              <a:gd name="adj" fmla="val 20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1397000" y="4381500"/>
            <a:ext cx="812800" cy="812800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00200" y="45847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2413000" y="438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智能服务层 (Python)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2413000" y="4826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计算密集型任务处理单元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7"/>
            </p:custDataLst>
          </p:nvPr>
        </p:nvSpPr>
        <p:spPr>
          <a:xfrm>
            <a:off x="2413000" y="5207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专注于文档智能解析、NLP语义理解、文本向量生成及智能题目生成，独立部署的高性能微服务。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8"/>
            </p:custDataLst>
          </p:nvPr>
        </p:nvSpPr>
        <p:spPr>
          <a:xfrm>
            <a:off x="6223000" y="4064000"/>
            <a:ext cx="4953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>
            <p:custDataLst>
              <p:tags r:id="rId29"/>
            </p:custDataLst>
          </p:nvPr>
        </p:nvSpPr>
        <p:spPr>
          <a:xfrm>
            <a:off x="6223000" y="4064000"/>
            <a:ext cx="76200" cy="2159000"/>
          </a:xfrm>
          <a:prstGeom prst="roundRect">
            <a:avLst>
              <a:gd name="adj" fmla="val 20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30"/>
            </p:custDataLst>
          </p:nvPr>
        </p:nvSpPr>
        <p:spPr>
          <a:xfrm>
            <a:off x="6604000" y="4381500"/>
            <a:ext cx="812800" cy="812800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807200" y="45847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>
            <p:custDataLst>
              <p:tags r:id="rId34"/>
            </p:custDataLst>
          </p:nvPr>
        </p:nvSpPr>
        <p:spPr>
          <a:xfrm>
            <a:off x="7620000" y="438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多维数据存储层</a:t>
            </a:r>
            <a:endParaRPr lang="en-US" sz="1100"/>
          </a:p>
        </p:txBody>
      </p:sp>
      <p:sp>
        <p:nvSpPr>
          <p:cNvPr id="29" name="AutoShape 29"/>
          <p:cNvSpPr/>
          <p:nvPr>
            <p:custDataLst>
              <p:tags r:id="rId35"/>
            </p:custDataLst>
          </p:nvPr>
        </p:nvSpPr>
        <p:spPr>
          <a:xfrm>
            <a:off x="7620000" y="4826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混合架构存储解决方案</a:t>
            </a:r>
            <a:endParaRPr lang="en-US" sz="1100"/>
          </a:p>
        </p:txBody>
      </p:sp>
      <p:sp>
        <p:nvSpPr>
          <p:cNvPr id="30" name="AutoShape 30"/>
          <p:cNvSpPr/>
          <p:nvPr>
            <p:custDataLst>
              <p:tags r:id="rId36"/>
            </p:custDataLst>
          </p:nvPr>
        </p:nvSpPr>
        <p:spPr>
          <a:xfrm>
            <a:off x="7620000" y="5207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关系型库存元数据、Neo4j 构建知识图谱、FAISS 存储高维向量，各司其职保障数据高效存取。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826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REQUIREMENTS ANALYSIS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功能需求：用户角色与权限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778000"/>
            <a:ext cx="3175000" cy="4318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2032000"/>
            <a:ext cx="812800" cy="812800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73200" y="22352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286000" y="20955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Student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16370">
            <a:off x="1270015" y="3041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270000" y="3302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▎核心权限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39370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检索与提问学习资源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查看并在线完成作业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查看学习反馈与统计报告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508500" y="1778000"/>
            <a:ext cx="3175000" cy="4318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762500" y="2032000"/>
            <a:ext cx="812800" cy="812800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5700" y="22352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778500" y="20955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Teacher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16370">
            <a:off x="4762515" y="3041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762500" y="3302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▎核心权限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762500" y="39370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上传与管理课程文档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审核并发布系统生成题目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监控分析学生学习数据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001000" y="1778000"/>
            <a:ext cx="3175000" cy="4318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255000" y="2032000"/>
            <a:ext cx="812800" cy="812800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8200" y="22352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271000" y="20955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Admin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-16370">
            <a:off x="8255015" y="3041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55000" y="3302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▎核心权限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55000" y="39370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课程与题库的增删改查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管理系统内所有用户权限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配置系统基础参数与AI模型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功能需求：核心功能模块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4953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1905000"/>
            <a:ext cx="609600" cy="609600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20066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981200"/>
            <a:ext cx="368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</a:t>
            </a:r>
            <a:r>
              <a:rPr lang="zh-CN" alt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</a:t>
            </a:r>
            <a:r>
              <a:rPr 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文档管理系统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2667000"/>
            <a:ext cx="44450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397000" y="2794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作为知识的核心入口，支持教师上传多格式课程文档。系统自动完成从文本提取、智能分块，到实体关系抽取及最终图谱构建的全流程处理。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3683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▍核心处理流程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70000" y="4064000"/>
            <a:ext cx="4445000" cy="508000"/>
          </a:xfrm>
          <a:prstGeom prst="roundRect">
            <a:avLst>
              <a:gd name="adj" fmla="val 1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397000" y="4191000"/>
            <a:ext cx="50800" cy="254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574800" y="41656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多源上传：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PDF/DOCX 等格式，支持文件夹批量上传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70000" y="4699000"/>
            <a:ext cx="4445000" cy="508000"/>
          </a:xfrm>
          <a:prstGeom prst="roundRect">
            <a:avLst>
              <a:gd name="adj" fmla="val 1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397000" y="4826000"/>
            <a:ext cx="50800" cy="254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574800" y="48006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智能解析：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自动提取文档文本内容，基于语义进行智能分块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70000" y="5334000"/>
            <a:ext cx="4445000" cy="508000"/>
          </a:xfrm>
          <a:prstGeom prst="roundRect">
            <a:avLst>
              <a:gd name="adj" fmla="val 1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397000" y="5461000"/>
            <a:ext cx="50800" cy="254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574800" y="54356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图谱构建：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NLP抽取实体关系，存入Neo4j与FAISS向量库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1651000"/>
            <a:ext cx="4953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1905000"/>
            <a:ext cx="609600" cy="609600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8600" y="20066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239000" y="1981200"/>
            <a:ext cx="368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</a:t>
            </a:r>
            <a:r>
              <a:rPr lang="zh-CN" alt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</a:t>
            </a:r>
            <a:r>
              <a:rPr 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智能问答检索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2667000"/>
            <a:ext cx="44450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604000" y="2794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面向学生的核心交互功能，提供自然语言提问接口。系统采用“向量匹配+逻辑推理”的混合检索策略，返回精准答案并关联知识点。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3683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▍交互检索逻辑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4064000"/>
            <a:ext cx="4445000" cy="508000"/>
          </a:xfrm>
          <a:prstGeom prst="roundRect">
            <a:avLst>
              <a:gd name="adj" fmla="val 1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04000" y="4191000"/>
            <a:ext cx="50800" cy="254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781800" y="41656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交互输入：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友好的对话式提问界面，支持历史提问记录回溯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7000" y="4699000"/>
            <a:ext cx="4445000" cy="508000"/>
          </a:xfrm>
          <a:prstGeom prst="roundRect">
            <a:avLst>
              <a:gd name="adj" fmla="val 1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604000" y="4826000"/>
            <a:ext cx="50800" cy="254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781800" y="48006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混合检索：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结合向量库语义匹配与逻辑推理，实现精准召回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77000" y="5334000"/>
            <a:ext cx="4445000" cy="508000"/>
          </a:xfrm>
          <a:prstGeom prst="roundRect">
            <a:avLst>
              <a:gd name="adj" fmla="val 1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604000" y="5461000"/>
            <a:ext cx="50800" cy="254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781800" y="54356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结果呈现：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结构化展示答案内容、原始来源文档及关联知识点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功能需求：核心功能模块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4826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905000"/>
            <a:ext cx="609600" cy="6096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000" y="2032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20066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模块五 · 管理后台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2667000"/>
            <a:ext cx="4318000" cy="5715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397000" y="2768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为系统管理员提供全维度的配置与管控能力，保障平台稳定高效运行。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70000" y="3429000"/>
            <a:ext cx="4318000" cy="825500"/>
          </a:xfrm>
          <a:prstGeom prst="roundRect">
            <a:avLst>
              <a:gd name="adj" fmla="val 1230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0500" y="36322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05000" y="3530600"/>
            <a:ext cx="342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课程体系管理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905000" y="3835400"/>
            <a:ext cx="342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支持课程的创建、大纲编辑与生命周期维护。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70000" y="4381500"/>
            <a:ext cx="4318000" cy="825500"/>
          </a:xfrm>
          <a:prstGeom prst="roundRect">
            <a:avLst>
              <a:gd name="adj" fmla="val 1230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0500" y="45847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905000" y="4483100"/>
            <a:ext cx="342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用户与权限管控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905000" y="4787900"/>
            <a:ext cx="342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管理师生列表，基于角色(RBAC)分配系统操作权限。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270000" y="5334000"/>
            <a:ext cx="4318000" cy="825500"/>
          </a:xfrm>
          <a:prstGeom prst="roundRect">
            <a:avLst>
              <a:gd name="adj" fmla="val 1230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0500" y="55372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905000" y="5435600"/>
            <a:ext cx="342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核心参数配置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905000" y="5740400"/>
            <a:ext cx="342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可视化配置AI模型参数、数据源连接与安全策略。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096000" y="1651000"/>
            <a:ext cx="48260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50000" y="1841500"/>
            <a:ext cx="558800" cy="5588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1968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19431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模块三 · 题目生成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2540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基于知识图谱自动生成多题型试题，支持教师审核入库。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3048000"/>
            <a:ext cx="1346200" cy="571500"/>
          </a:xfrm>
          <a:prstGeom prst="roundRect">
            <a:avLst>
              <a:gd name="adj" fmla="val 1333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413500" y="3111500"/>
            <a:ext cx="1219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智能出题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多题型覆盖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835900" y="3048000"/>
            <a:ext cx="1346200" cy="571500"/>
          </a:xfrm>
          <a:prstGeom prst="roundRect">
            <a:avLst>
              <a:gd name="adj" fmla="val 1333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899400" y="3111500"/>
            <a:ext cx="1219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人工审核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质量把控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321800" y="3048000"/>
            <a:ext cx="1346200" cy="571500"/>
          </a:xfrm>
          <a:prstGeom prst="roundRect">
            <a:avLst>
              <a:gd name="adj" fmla="val 1333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385300" y="3111500"/>
            <a:ext cx="1219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题库管理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检索与统计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096000" y="4000500"/>
            <a:ext cx="48260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350000" y="4191000"/>
            <a:ext cx="558800" cy="5588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43180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7112000" y="42926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模块四 · 学习评估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350000" y="4889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全流程记录学习轨迹，自动评分并生成可视化能力画像。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350000" y="5397500"/>
            <a:ext cx="1346200" cy="571500"/>
          </a:xfrm>
          <a:prstGeom prst="roundRect">
            <a:avLst>
              <a:gd name="adj" fmla="val 1333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6413500" y="5461000"/>
            <a:ext cx="1219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交互答题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即时反馈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835900" y="5397500"/>
            <a:ext cx="1346200" cy="571500"/>
          </a:xfrm>
          <a:prstGeom prst="roundRect">
            <a:avLst>
              <a:gd name="adj" fmla="val 1333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7899400" y="5461000"/>
            <a:ext cx="1219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智能评分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错误归因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321800" y="5397500"/>
            <a:ext cx="1346200" cy="571500"/>
          </a:xfrm>
          <a:prstGeom prst="roundRect">
            <a:avLst>
              <a:gd name="adj" fmla="val 1333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9385300" y="5461000"/>
            <a:ext cx="1219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学情分析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图表可视化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508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非功能需求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2413000" cy="4318000"/>
          </a:xfrm>
          <a:prstGeom prst="roundRect">
            <a:avLst>
              <a:gd name="adj" fmla="val 631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790700" y="2095500"/>
            <a:ext cx="609600" cy="6096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3100" y="22479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2921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性能需求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3556000"/>
            <a:ext cx="1905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06500" y="38100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响应：问答检索平均 &lt; 2秒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效率：单文档处理 &lt; 5分钟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并发：支持至少100个用户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683000" y="1778000"/>
            <a:ext cx="2413000" cy="4318000"/>
          </a:xfrm>
          <a:prstGeom prst="roundRect">
            <a:avLst>
              <a:gd name="adj" fmla="val 631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57700" y="2095500"/>
            <a:ext cx="609600" cy="6096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10100" y="22479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683000" y="2921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安全性需求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937000" y="3556000"/>
            <a:ext cx="1905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873500" y="3810000"/>
            <a:ext cx="203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认证：全访问需登录验证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鉴权：API请求需身份校验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存储：敏感信息加密保存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上传：严格限制格式与大小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1778000"/>
            <a:ext cx="2413000" cy="4318000"/>
          </a:xfrm>
          <a:prstGeom prst="roundRect">
            <a:avLst>
              <a:gd name="adj" fmla="val 631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124700" y="2095500"/>
            <a:ext cx="609600" cy="6096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7100" y="22479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350000" y="2921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可用性需求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3556000"/>
            <a:ext cx="1905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40500" y="38100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容错：清晰错误提示与重试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跟踪：关键流程进度可视化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017000" y="1778000"/>
            <a:ext cx="2413000" cy="4318000"/>
          </a:xfrm>
          <a:prstGeom prst="roundRect">
            <a:avLst>
              <a:gd name="adj" fmla="val 631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791700" y="2095500"/>
            <a:ext cx="609600" cy="6096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44100" y="22479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017000" y="2921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可维护性需求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271000" y="3556000"/>
            <a:ext cx="1905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207500" y="38100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结构：模块低耦合，易扩展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文档：完备的API与部署说明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系统可扩展性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778000"/>
            <a:ext cx="3175000" cy="4318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2032000"/>
            <a:ext cx="762000" cy="762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7800" y="22098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286000" y="21844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功能扩展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3048000"/>
            <a:ext cx="2667000" cy="38100"/>
          </a:xfrm>
          <a:prstGeom prst="roundRect">
            <a:avLst>
              <a:gd name="adj" fmla="val 5000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70000" y="3429000"/>
            <a:ext cx="26670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460500" y="35560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多语言支持体系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460500" y="38735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支持英文等多语种课程资料处理，打破语言壁垒。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000" y="4508500"/>
            <a:ext cx="26670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460500" y="46355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知识图谱可视化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460500" y="49530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增加可视化模块，直观展示知识关联结构与脉络。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08500" y="1778000"/>
            <a:ext cx="3175000" cy="4318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762500" y="2032000"/>
            <a:ext cx="762000" cy="762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40300" y="22098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778500" y="21844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性能优化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762500" y="3048000"/>
            <a:ext cx="2667000" cy="38100"/>
          </a:xfrm>
          <a:prstGeom prst="roundRect">
            <a:avLst>
              <a:gd name="adj" fmla="val 5000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762500" y="3429000"/>
            <a:ext cx="26670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953000" y="35560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文档处理异步化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953000" y="38735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引入消息队列机制，大幅提升系统吞吐量与响应速度。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762500" y="4508500"/>
            <a:ext cx="26670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953000" y="46355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向量检索深度优化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953000" y="49530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探索先进索引技术，在海量数据下保持毫秒级检索精度。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001000" y="1778000"/>
            <a:ext cx="3175000" cy="4318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255000" y="2032000"/>
            <a:ext cx="762000" cy="762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2800" y="22098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271000" y="21844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用户体验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255000" y="3048000"/>
            <a:ext cx="2667000" cy="38100"/>
          </a:xfrm>
          <a:prstGeom prst="roundRect">
            <a:avLst>
              <a:gd name="adj" fmla="val 5000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255000" y="3429000"/>
            <a:ext cx="26670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445500" y="35560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全端响应式适配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445500" y="38735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覆盖Web与移动端，提供一致且流畅的跨设备使用体验。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255000" y="4508500"/>
            <a:ext cx="26670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8445500" y="46355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交互体验升级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445500" y="49530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优化前端动效与交互逻辑，降低用户操作门槛，提升愉悦感。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3070" y="25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学生/教师上传文档</a:t>
            </a:r>
            <a:r>
              <a:rPr lang="zh-CN" alt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顺序图</a:t>
            </a:r>
            <a:endParaRPr lang="zh-CN" alt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0145" y="831215"/>
            <a:ext cx="6350000" cy="54565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9600" y="838200"/>
            <a:ext cx="6530340" cy="5425440"/>
          </a:xfrm>
          <a:prstGeom prst="rect">
            <a:avLst/>
          </a:prstGeom>
        </p:spPr>
      </p:pic>
      <p:sp>
        <p:nvSpPr>
          <p:cNvPr id="3" name="AutoShape 2"/>
          <p:cNvSpPr/>
          <p:nvPr/>
        </p:nvSpPr>
        <p:spPr>
          <a:xfrm>
            <a:off x="433070" y="25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学生提问</a:t>
            </a:r>
            <a:r>
              <a:rPr lang="zh-CN" alt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顺序图</a:t>
            </a:r>
            <a:endParaRPr lang="zh-CN" alt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AutoShape 2"/>
          <p:cNvSpPr/>
          <p:nvPr/>
        </p:nvSpPr>
        <p:spPr>
          <a:xfrm>
            <a:off x="433070" y="25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类图</a:t>
            </a:r>
            <a:endParaRPr lang="zh-CN" alt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8" name="图片 47" descr="post_object_image_8800288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3910" y="782624"/>
            <a:ext cx="5576201" cy="52926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AutoShape 2"/>
          <p:cNvSpPr/>
          <p:nvPr/>
        </p:nvSpPr>
        <p:spPr>
          <a:xfrm>
            <a:off x="433070" y="25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用例图</a:t>
            </a:r>
            <a:endParaRPr lang="zh-CN" alt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85795" y="453390"/>
            <a:ext cx="6562725" cy="5983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53050" y="455295"/>
            <a:ext cx="21323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知识图谱问答平台</a:t>
            </a:r>
            <a:endParaRPr lang="zh-CN" altLang="en-US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1845310"/>
            <a:ext cx="743585" cy="12395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4323080"/>
            <a:ext cx="838835" cy="13773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3070" y="1845310"/>
            <a:ext cx="1055370" cy="1646555"/>
          </a:xfrm>
          <a:prstGeom prst="rect">
            <a:avLst/>
          </a:prstGeom>
        </p:spPr>
      </p:pic>
      <p:sp>
        <p:nvSpPr>
          <p:cNvPr id="8" name="椭圆 7"/>
          <p:cNvSpPr/>
          <p:nvPr/>
        </p:nvSpPr>
        <p:spPr>
          <a:xfrm>
            <a:off x="3920490" y="762635"/>
            <a:ext cx="1287780" cy="519430"/>
          </a:xfrm>
          <a:prstGeom prst="ellipse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查看</a:t>
            </a:r>
            <a:r>
              <a:rPr lang="zh-CN" altLang="en-US" sz="1200">
                <a:solidFill>
                  <a:schemeClr val="tx1"/>
                </a:solidFill>
              </a:rPr>
              <a:t>知识点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3920490" y="1651000"/>
            <a:ext cx="1287780" cy="519430"/>
          </a:xfrm>
          <a:prstGeom prst="ellipse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提问检索</a:t>
            </a:r>
            <a:r>
              <a:rPr lang="zh-CN" altLang="en-US" sz="1200"/>
              <a:t>点</a:t>
            </a:r>
            <a:endParaRPr lang="zh-CN" altLang="en-US" sz="1200"/>
          </a:p>
        </p:txBody>
      </p:sp>
      <p:sp>
        <p:nvSpPr>
          <p:cNvPr id="12" name="椭圆 11"/>
          <p:cNvSpPr/>
          <p:nvPr/>
        </p:nvSpPr>
        <p:spPr>
          <a:xfrm>
            <a:off x="7881620" y="1964690"/>
            <a:ext cx="1287780" cy="519430"/>
          </a:xfrm>
          <a:prstGeom prst="ellipse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课程管理</a:t>
            </a:r>
            <a:r>
              <a:rPr lang="zh-CN" altLang="en-US" sz="1000"/>
              <a:t>点</a:t>
            </a:r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973830" y="2465070"/>
            <a:ext cx="1287780" cy="519430"/>
          </a:xfrm>
          <a:prstGeom prst="ellipse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答题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" name="椭圆 2"/>
          <p:cNvSpPr/>
          <p:nvPr/>
        </p:nvSpPr>
        <p:spPr>
          <a:xfrm>
            <a:off x="3920490" y="4011295"/>
            <a:ext cx="1287780" cy="519430"/>
          </a:xfrm>
          <a:prstGeom prst="ellipse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上传</a:t>
            </a:r>
            <a:r>
              <a:rPr lang="zh-CN" altLang="en-US" sz="1200">
                <a:solidFill>
                  <a:schemeClr val="tx1"/>
                </a:solidFill>
              </a:rPr>
              <a:t>文档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7881620" y="2778760"/>
            <a:ext cx="1287780" cy="519430"/>
          </a:xfrm>
          <a:prstGeom prst="ellipse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用户管理</a:t>
            </a:r>
            <a:r>
              <a:rPr lang="zh-CN" altLang="en-US" sz="1000"/>
              <a:t>点</a:t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881620" y="3592830"/>
            <a:ext cx="1287780" cy="519430"/>
          </a:xfrm>
          <a:prstGeom prst="ellipse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用户配置</a:t>
            </a:r>
            <a:r>
              <a:rPr lang="zh-CN" altLang="en-US" sz="1000"/>
              <a:t>点</a:t>
            </a:r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3920490" y="4793615"/>
            <a:ext cx="1287780" cy="519430"/>
          </a:xfrm>
          <a:prstGeom prst="ellipse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发布题目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3920490" y="5575935"/>
            <a:ext cx="1287780" cy="519430"/>
          </a:xfrm>
          <a:prstGeom prst="ellipse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生成题目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5775325" y="5575935"/>
            <a:ext cx="1287780" cy="519430"/>
          </a:xfrm>
          <a:prstGeom prst="ellipse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审核题目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75325" y="4011295"/>
            <a:ext cx="1287780" cy="519430"/>
          </a:xfrm>
          <a:prstGeom prst="ellipse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文档解析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775325" y="4732020"/>
            <a:ext cx="1287780" cy="519430"/>
          </a:xfrm>
          <a:prstGeom prst="ellipse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构建</a:t>
            </a:r>
            <a:r>
              <a:rPr lang="zh-CN" altLang="en-US" sz="1200">
                <a:solidFill>
                  <a:schemeClr val="tx1"/>
                </a:solidFill>
              </a:rPr>
              <a:t>知识图谱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668645" y="1651000"/>
            <a:ext cx="1287780" cy="519430"/>
          </a:xfrm>
          <a:prstGeom prst="ellipse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自动</a:t>
            </a:r>
            <a:r>
              <a:rPr lang="zh-CN" altLang="en-US" sz="1200">
                <a:solidFill>
                  <a:schemeClr val="tx1"/>
                </a:solidFill>
              </a:rPr>
              <a:t>评分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3973830" y="3169285"/>
            <a:ext cx="1287780" cy="519430"/>
          </a:xfrm>
          <a:prstGeom prst="ellipse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查看学生</a:t>
            </a:r>
            <a:r>
              <a:rPr lang="zh-CN" altLang="en-US" sz="1200">
                <a:solidFill>
                  <a:schemeClr val="tx1"/>
                </a:solidFill>
              </a:rPr>
              <a:t>数据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23" name="直接连接符 22"/>
          <p:cNvCxnSpPr>
            <a:stCxn id="5" idx="3"/>
            <a:endCxn id="8" idx="2"/>
          </p:cNvCxnSpPr>
          <p:nvPr/>
        </p:nvCxnSpPr>
        <p:spPr>
          <a:xfrm flipV="1">
            <a:off x="1454785" y="1022350"/>
            <a:ext cx="2465705" cy="1442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5" idx="3"/>
            <a:endCxn id="11" idx="2"/>
          </p:cNvCxnSpPr>
          <p:nvPr/>
        </p:nvCxnSpPr>
        <p:spPr>
          <a:xfrm flipV="1">
            <a:off x="1454785" y="1910715"/>
            <a:ext cx="2465705" cy="5543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5" idx="3"/>
            <a:endCxn id="15" idx="2"/>
          </p:cNvCxnSpPr>
          <p:nvPr/>
        </p:nvCxnSpPr>
        <p:spPr>
          <a:xfrm>
            <a:off x="1454785" y="2465070"/>
            <a:ext cx="2519045" cy="2597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6" idx="3"/>
          </p:cNvCxnSpPr>
          <p:nvPr/>
        </p:nvCxnSpPr>
        <p:spPr>
          <a:xfrm flipV="1">
            <a:off x="1550035" y="3456940"/>
            <a:ext cx="2423795" cy="15551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endCxn id="16" idx="2"/>
          </p:cNvCxnSpPr>
          <p:nvPr/>
        </p:nvCxnSpPr>
        <p:spPr>
          <a:xfrm>
            <a:off x="1581785" y="5012055"/>
            <a:ext cx="2338705" cy="41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endCxn id="3" idx="2"/>
          </p:cNvCxnSpPr>
          <p:nvPr/>
        </p:nvCxnSpPr>
        <p:spPr>
          <a:xfrm flipV="1">
            <a:off x="1550035" y="4271010"/>
            <a:ext cx="2370455" cy="741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6" idx="3"/>
          </p:cNvCxnSpPr>
          <p:nvPr/>
        </p:nvCxnSpPr>
        <p:spPr>
          <a:xfrm>
            <a:off x="1550035" y="5012055"/>
            <a:ext cx="2370455" cy="835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12" idx="6"/>
            <a:endCxn id="7" idx="1"/>
          </p:cNvCxnSpPr>
          <p:nvPr/>
        </p:nvCxnSpPr>
        <p:spPr>
          <a:xfrm>
            <a:off x="9169400" y="2224405"/>
            <a:ext cx="1423670" cy="444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endCxn id="7" idx="1"/>
          </p:cNvCxnSpPr>
          <p:nvPr/>
        </p:nvCxnSpPr>
        <p:spPr>
          <a:xfrm flipV="1">
            <a:off x="9169400" y="2668905"/>
            <a:ext cx="1423670" cy="3784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10" idx="6"/>
            <a:endCxn id="7" idx="1"/>
          </p:cNvCxnSpPr>
          <p:nvPr/>
        </p:nvCxnSpPr>
        <p:spPr>
          <a:xfrm flipV="1">
            <a:off x="9169400" y="2668905"/>
            <a:ext cx="1423670" cy="11836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5" idx="6"/>
            <a:endCxn id="21" idx="2"/>
          </p:cNvCxnSpPr>
          <p:nvPr/>
        </p:nvCxnSpPr>
        <p:spPr>
          <a:xfrm flipV="1">
            <a:off x="5261610" y="1910715"/>
            <a:ext cx="407035" cy="814070"/>
          </a:xfrm>
          <a:prstGeom prst="straightConnector1">
            <a:avLst/>
          </a:prstGeom>
          <a:ln w="15875" cap="flat" cmpd="sng" algn="ctr">
            <a:solidFill>
              <a:schemeClr val="tx1"/>
            </a:solidFill>
            <a:prstDash val="dash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11" idx="0"/>
            <a:endCxn id="8" idx="4"/>
          </p:cNvCxnSpPr>
          <p:nvPr/>
        </p:nvCxnSpPr>
        <p:spPr>
          <a:xfrm flipV="1">
            <a:off x="4564380" y="1282065"/>
            <a:ext cx="0" cy="368935"/>
          </a:xfrm>
          <a:prstGeom prst="straightConnector1">
            <a:avLst/>
          </a:prstGeom>
          <a:ln w="15875" cap="flat" cmpd="sng" algn="ctr">
            <a:solidFill>
              <a:schemeClr val="tx1"/>
            </a:solidFill>
            <a:prstDash val="dash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3" idx="6"/>
            <a:endCxn id="19" idx="2"/>
          </p:cNvCxnSpPr>
          <p:nvPr/>
        </p:nvCxnSpPr>
        <p:spPr>
          <a:xfrm>
            <a:off x="5208270" y="4271010"/>
            <a:ext cx="567055" cy="0"/>
          </a:xfrm>
          <a:prstGeom prst="straightConnector1">
            <a:avLst/>
          </a:prstGeom>
          <a:ln w="15875" cap="flat" cmpd="sng" algn="ctr">
            <a:solidFill>
              <a:schemeClr val="tx1"/>
            </a:solidFill>
            <a:prstDash val="dash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19" idx="4"/>
            <a:endCxn id="20" idx="0"/>
          </p:cNvCxnSpPr>
          <p:nvPr/>
        </p:nvCxnSpPr>
        <p:spPr>
          <a:xfrm>
            <a:off x="6419215" y="4530725"/>
            <a:ext cx="0" cy="201295"/>
          </a:xfrm>
          <a:prstGeom prst="straightConnector1">
            <a:avLst/>
          </a:prstGeom>
          <a:ln w="15875" cap="flat" cmpd="sng" algn="ctr">
            <a:solidFill>
              <a:schemeClr val="tx1"/>
            </a:solidFill>
            <a:prstDash val="dash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17" idx="6"/>
            <a:endCxn id="18" idx="2"/>
          </p:cNvCxnSpPr>
          <p:nvPr/>
        </p:nvCxnSpPr>
        <p:spPr>
          <a:xfrm>
            <a:off x="5208270" y="5835650"/>
            <a:ext cx="567055" cy="0"/>
          </a:xfrm>
          <a:prstGeom prst="straightConnector1">
            <a:avLst/>
          </a:prstGeom>
          <a:ln w="15875" cap="flat" cmpd="sng" algn="ctr">
            <a:solidFill>
              <a:schemeClr val="tx1"/>
            </a:solidFill>
            <a:prstDash val="dash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18" idx="0"/>
            <a:endCxn id="16" idx="6"/>
          </p:cNvCxnSpPr>
          <p:nvPr/>
        </p:nvCxnSpPr>
        <p:spPr>
          <a:xfrm flipH="1" flipV="1">
            <a:off x="5208270" y="5053330"/>
            <a:ext cx="1210945" cy="522605"/>
          </a:xfrm>
          <a:prstGeom prst="straightConnector1">
            <a:avLst/>
          </a:prstGeom>
          <a:ln w="15875" cap="flat" cmpd="sng" algn="ctr">
            <a:solidFill>
              <a:schemeClr val="tx1"/>
            </a:solidFill>
            <a:prstDash val="dash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椭圆 40"/>
          <p:cNvSpPr/>
          <p:nvPr/>
        </p:nvSpPr>
        <p:spPr>
          <a:xfrm>
            <a:off x="5668645" y="2647950"/>
            <a:ext cx="1287780" cy="519430"/>
          </a:xfrm>
          <a:prstGeom prst="ellipse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生成学习</a:t>
            </a:r>
            <a:r>
              <a:rPr lang="zh-CN" altLang="en-US" sz="1200">
                <a:solidFill>
                  <a:schemeClr val="tx1"/>
                </a:solidFill>
              </a:rPr>
              <a:t>分析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42" name="直接箭头连接符 41"/>
          <p:cNvCxnSpPr>
            <a:stCxn id="21" idx="4"/>
            <a:endCxn id="41" idx="0"/>
          </p:cNvCxnSpPr>
          <p:nvPr/>
        </p:nvCxnSpPr>
        <p:spPr>
          <a:xfrm>
            <a:off x="6312535" y="2170430"/>
            <a:ext cx="0" cy="477520"/>
          </a:xfrm>
          <a:prstGeom prst="straightConnector1">
            <a:avLst/>
          </a:prstGeom>
          <a:ln w="15875" cap="flat" cmpd="sng" algn="ctr">
            <a:solidFill>
              <a:schemeClr val="tx1"/>
            </a:solidFill>
            <a:prstDash val="dash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41" idx="4"/>
            <a:endCxn id="22" idx="6"/>
          </p:cNvCxnSpPr>
          <p:nvPr/>
        </p:nvCxnSpPr>
        <p:spPr>
          <a:xfrm flipH="1">
            <a:off x="5261610" y="3167380"/>
            <a:ext cx="1050925" cy="261620"/>
          </a:xfrm>
          <a:prstGeom prst="straightConnector1">
            <a:avLst/>
          </a:prstGeom>
          <a:ln w="15875" cap="flat" cmpd="sng" algn="ctr">
            <a:solidFill>
              <a:schemeClr val="tx1"/>
            </a:solidFill>
            <a:prstDash val="dash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4614545" y="1363345"/>
            <a:ext cx="116078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&lt;&lt;include&gt;&gt;</a:t>
            </a:r>
            <a:endParaRPr lang="en-US" altLang="zh-CN" sz="1000"/>
          </a:p>
        </p:txBody>
      </p:sp>
      <p:sp>
        <p:nvSpPr>
          <p:cNvPr id="45" name="文本框 44"/>
          <p:cNvSpPr txBox="1"/>
          <p:nvPr/>
        </p:nvSpPr>
        <p:spPr>
          <a:xfrm>
            <a:off x="4884420" y="2170430"/>
            <a:ext cx="116078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&lt;&lt;include&gt;&gt;</a:t>
            </a:r>
            <a:endParaRPr lang="en-US" altLang="zh-CN" sz="1000"/>
          </a:p>
        </p:txBody>
      </p:sp>
      <p:sp>
        <p:nvSpPr>
          <p:cNvPr id="46" name="文本框 45"/>
          <p:cNvSpPr txBox="1"/>
          <p:nvPr/>
        </p:nvSpPr>
        <p:spPr>
          <a:xfrm>
            <a:off x="6257925" y="2224405"/>
            <a:ext cx="116078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&lt;&lt;include&gt;&gt;</a:t>
            </a:r>
            <a:endParaRPr lang="en-US" altLang="zh-CN" sz="1000"/>
          </a:p>
        </p:txBody>
      </p:sp>
      <p:sp>
        <p:nvSpPr>
          <p:cNvPr id="49" name="文本框 48"/>
          <p:cNvSpPr txBox="1"/>
          <p:nvPr/>
        </p:nvSpPr>
        <p:spPr>
          <a:xfrm>
            <a:off x="5434965" y="3298190"/>
            <a:ext cx="116078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&lt;&lt;include&gt;&gt;</a:t>
            </a:r>
            <a:endParaRPr lang="en-US" altLang="zh-CN" sz="1000"/>
          </a:p>
        </p:txBody>
      </p:sp>
      <p:sp>
        <p:nvSpPr>
          <p:cNvPr id="50" name="文本框 49"/>
          <p:cNvSpPr txBox="1"/>
          <p:nvPr/>
        </p:nvSpPr>
        <p:spPr>
          <a:xfrm>
            <a:off x="5024120" y="4035425"/>
            <a:ext cx="116078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&lt;&lt;include&gt;&gt;</a:t>
            </a:r>
            <a:endParaRPr lang="en-US" altLang="zh-CN" sz="1000"/>
          </a:p>
        </p:txBody>
      </p:sp>
      <p:sp>
        <p:nvSpPr>
          <p:cNvPr id="51" name="文本框 50"/>
          <p:cNvSpPr txBox="1"/>
          <p:nvPr/>
        </p:nvSpPr>
        <p:spPr>
          <a:xfrm>
            <a:off x="6419215" y="4505960"/>
            <a:ext cx="116078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&lt;&lt;include&gt;&gt;</a:t>
            </a:r>
            <a:endParaRPr lang="en-US" altLang="zh-CN" sz="1000"/>
          </a:p>
        </p:txBody>
      </p:sp>
      <p:sp>
        <p:nvSpPr>
          <p:cNvPr id="52" name="文本框 51"/>
          <p:cNvSpPr txBox="1"/>
          <p:nvPr/>
        </p:nvSpPr>
        <p:spPr>
          <a:xfrm>
            <a:off x="5024120" y="5900420"/>
            <a:ext cx="116078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&lt;&lt;</a:t>
            </a:r>
            <a:r>
              <a:rPr lang="en-US" altLang="zh-CN" sz="1000"/>
              <a:t>extend&gt;&gt;</a:t>
            </a:r>
            <a:endParaRPr lang="en-US" altLang="zh-CN" sz="1000"/>
          </a:p>
        </p:txBody>
      </p:sp>
      <p:sp>
        <p:nvSpPr>
          <p:cNvPr id="53" name="文本框 52"/>
          <p:cNvSpPr txBox="1"/>
          <p:nvPr/>
        </p:nvSpPr>
        <p:spPr>
          <a:xfrm>
            <a:off x="5261610" y="5313045"/>
            <a:ext cx="116078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&lt;&lt;</a:t>
            </a:r>
            <a:r>
              <a:rPr lang="en-US" altLang="zh-CN" sz="1000"/>
              <a:t>extend&gt;&gt;</a:t>
            </a:r>
            <a:endParaRPr lang="en-US" altLang="zh-CN" sz="1000"/>
          </a:p>
        </p:txBody>
      </p:sp>
      <p:sp>
        <p:nvSpPr>
          <p:cNvPr id="54" name="文本框 53"/>
          <p:cNvSpPr txBox="1"/>
          <p:nvPr/>
        </p:nvSpPr>
        <p:spPr>
          <a:xfrm>
            <a:off x="7630160" y="3312795"/>
            <a:ext cx="116078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&lt;&lt;include&gt;&gt;</a:t>
            </a:r>
            <a:endParaRPr lang="en-US" altLang="zh-CN" sz="1000"/>
          </a:p>
        </p:txBody>
      </p:sp>
      <p:cxnSp>
        <p:nvCxnSpPr>
          <p:cNvPr id="55" name="直接箭头连接符 54"/>
          <p:cNvCxnSpPr/>
          <p:nvPr/>
        </p:nvCxnSpPr>
        <p:spPr>
          <a:xfrm>
            <a:off x="8525510" y="3298190"/>
            <a:ext cx="1270" cy="302260"/>
          </a:xfrm>
          <a:prstGeom prst="straightConnector1">
            <a:avLst/>
          </a:prstGeom>
          <a:ln w="15875" cap="flat" cmpd="sng" algn="ctr">
            <a:solidFill>
              <a:schemeClr val="tx1"/>
            </a:solidFill>
            <a:prstDash val="dash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 spc="4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</a:t>
            </a:r>
            <a:r>
              <a:rPr lang="zh-CN" altLang="en-US" sz="3200" b="0" i="0" u="none" strike="noStrike" spc="4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观看</a:t>
            </a:r>
            <a:endParaRPr lang="zh-CN" altLang="en-US" sz="3200" b="0" i="0" u="none" strike="noStrike" spc="400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4953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8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 END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TYPE" val="l_h_i"/>
  <p:tag name="KSO_WM_UNIT_INDEX" val="1_1_2"/>
  <p:tag name="KSO_WM_UNIT_ID" val="diagram19882022_2*l_h_i*1_1_2"/>
  <p:tag name="KSO_WM_TEMPLATE_INDEX" val="19882022"/>
  <p:tag name="KSO_WM_TAG_VERSION" val="2.0"/>
  <p:tag name="KSO_WM_DIAGRAM_GROUP_CODE" val="l1-1"/>
  <p:tag name="KSO_WM_DIAGRAM_VIRTUALLY_FRAME" val="{&quot;height&quot;:331.2,&quot;left&quot;:316.8,&quot;top&quot;:105,&quot;width&quot;:641.2}"/>
</p:tagLst>
</file>

<file path=ppt/tags/tag2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2*l_h_i*1_1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331.2,&quot;left&quot;:316.8,&quot;top&quot;:105,&quot;width&quot;:641.2}"/>
</p:tagLst>
</file>

<file path=ppt/tags/tag3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2*l_h_a*1_1_1"/>
  <p:tag name="KSO_WM_TEMPLATE_INDEX" val="19882022"/>
  <p:tag name="KSO_WM_TAG_VERSION" val="2.0"/>
  <p:tag name="KSO_WM_DIAGRAM_GROUP_CODE" val="l1-1"/>
  <p:tag name="KSO_WM_DIAGRAM_VIRTUALLY_FRAME" val="{&quot;height&quot;:331.2,&quot;left&quot;:316.8,&quot;top&quot;:105,&quot;width&quot;:641.2}"/>
</p:tagLst>
</file>

<file path=ppt/tags/tag4.xml><?xml version="1.0" encoding="utf-8"?>
<p:tagLst xmlns:p="http://schemas.openxmlformats.org/presentationml/2006/main">
  <p:tag name="KSO_WM_BEAUTIFY_FLAG" val="#wm#"/>
  <p:tag name="KSO_WM_UNIT_TYPE" val="l_h_i"/>
  <p:tag name="KSO_WM_UNIT_INDEX" val="1_1_3"/>
  <p:tag name="KSO_WM_UNIT_ID" val="diagram19882022_2*l_h_i*1_1_3"/>
  <p:tag name="KSO_WM_TEMPLATE_INDEX" val="19882022"/>
  <p:tag name="KSO_WM_TAG_VERSION" val="2.0"/>
  <p:tag name="KSO_WM_DIAGRAM_GROUP_CODE" val="l1-1"/>
  <p:tag name="KSO_WM_DIAGRAM_VIRTUALLY_FRAME" val="{&quot;height&quot;:331.2,&quot;left&quot;:316.8,&quot;top&quot;:105,&quot;width&quot;:641.2}"/>
</p:tagLst>
</file>

<file path=ppt/tags/tag5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2*l_h_f*1_1_1"/>
  <p:tag name="KSO_WM_TEMPLATE_INDEX" val="19882022"/>
  <p:tag name="KSO_WM_TAG_VERSION" val="2.0"/>
  <p:tag name="KSO_WM_DIAGRAM_GROUP_CODE" val="l1-1"/>
  <p:tag name="KSO_WM_DIAGRAM_VIRTUALLY_FRAME" val="{&quot;height&quot;:331.2,&quot;left&quot;:316.8,&quot;top&quot;:105,&quot;width&quot;:641.2}"/>
</p:tagLst>
</file>

<file path=ppt/tags/tag6.xml><?xml version="1.0" encoding="utf-8"?>
<p:tagLst xmlns:p="http://schemas.openxmlformats.org/presentationml/2006/main">
  <p:tag name="KSO_WM_DIAGRAM_VIRTUALLY_FRAME" val="{&quot;height&quot;:331.2,&quot;left&quot;:316.8,&quot;top&quot;:105,&quot;width&quot;:641.2}"/>
</p:tagLst>
</file>

<file path=ppt/tags/tag7.xml><?xml version="1.0" encoding="utf-8"?>
<p:tagLst xmlns:p="http://schemas.openxmlformats.org/presentationml/2006/main">
  <p:tag name="KSO_WM_BEAUTIFY_FLAG" val="#wm#"/>
  <p:tag name="KSO_WM_UNIT_TYPE" val="l_h_i"/>
  <p:tag name="KSO_WM_UNIT_INDEX" val="1_2_2"/>
  <p:tag name="KSO_WM_UNIT_ID" val="diagram19882022_2*l_h_i*1_2_2"/>
  <p:tag name="KSO_WM_TEMPLATE_INDEX" val="19882022"/>
  <p:tag name="KSO_WM_TAG_VERSION" val="2.0"/>
  <p:tag name="KSO_WM_DIAGRAM_GROUP_CODE" val="l1-1"/>
  <p:tag name="KSO_WM_DIAGRAM_VIRTUALLY_FRAME" val="{&quot;height&quot;:331.2,&quot;left&quot;:316.8,&quot;top&quot;:105,&quot;width&quot;:641.2}"/>
</p:tagLst>
</file>

<file path=ppt/tags/tag8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2*l_h_i*1_2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331.2,&quot;left&quot;:316.8,&quot;top&quot;:105,&quot;width&quot;:641.2}"/>
</p:tagLst>
</file>

<file path=ppt/tags/tag9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2*l_h_a*1_2_1"/>
  <p:tag name="KSO_WM_TEMPLATE_INDEX" val="19882022"/>
  <p:tag name="KSO_WM_TAG_VERSION" val="2.0"/>
  <p:tag name="KSO_WM_DIAGRAM_GROUP_CODE" val="l1-1"/>
  <p:tag name="KSO_WM_DIAGRAM_VIRTUALLY_FRAME" val="{&quot;height&quot;:331.2,&quot;left&quot;:316.8,&quot;top&quot;:105,&quot;width&quot;:641.2}"/>
</p:tagLst>
</file>

<file path=ppt/tags/tag10.xml><?xml version="1.0" encoding="utf-8"?>
<p:tagLst xmlns:p="http://schemas.openxmlformats.org/presentationml/2006/main">
  <p:tag name="KSO_WM_BEAUTIFY_FLAG" val="#wm#"/>
  <p:tag name="KSO_WM_UNIT_TYPE" val="l_h_i"/>
  <p:tag name="KSO_WM_UNIT_INDEX" val="1_2_3"/>
  <p:tag name="KSO_WM_UNIT_ID" val="diagram19882022_2*l_h_i*1_2_3"/>
  <p:tag name="KSO_WM_TEMPLATE_INDEX" val="19882022"/>
  <p:tag name="KSO_WM_TAG_VERSION" val="2.0"/>
  <p:tag name="KSO_WM_DIAGRAM_GROUP_CODE" val="l1-1"/>
  <p:tag name="KSO_WM_DIAGRAM_VIRTUALLY_FRAME" val="{&quot;height&quot;:331.2,&quot;left&quot;:316.8,&quot;top&quot;:105,&quot;width&quot;:641.2}"/>
</p:tagLst>
</file>

<file path=ppt/tags/tag11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2*l_h_f*1_2_1"/>
  <p:tag name="KSO_WM_TEMPLATE_INDEX" val="19882022"/>
  <p:tag name="KSO_WM_TAG_VERSION" val="2.0"/>
  <p:tag name="KSO_WM_DIAGRAM_GROUP_CODE" val="l1-1"/>
  <p:tag name="KSO_WM_DIAGRAM_VIRTUALLY_FRAME" val="{&quot;height&quot;:331.2,&quot;left&quot;:316.8,&quot;top&quot;:105,&quot;width&quot;:641.2}"/>
</p:tagLst>
</file>

<file path=ppt/tags/tag12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13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14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15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16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17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18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19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20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21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22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23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24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25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26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27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28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29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30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31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32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33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34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35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36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37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38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39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2389</Words>
  <Application>WPS 演示</Application>
  <PresentationFormat/>
  <Paragraphs>323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3_默认主题</vt:lpstr>
      <vt:lpstr>4_默认主题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Earthling</cp:lastModifiedBy>
  <cp:revision>4</cp:revision>
  <dcterms:created xsi:type="dcterms:W3CDTF">2026-04-13T12:54:00Z</dcterms:created>
  <dcterms:modified xsi:type="dcterms:W3CDTF">2026-04-13T13:15:34Z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AE64E3B3A3AD47A2B93354A3918CA6DF_12</vt:lpwstr>
  </property>
</Properties>
</file>