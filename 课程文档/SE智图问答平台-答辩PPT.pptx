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0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70000" y="1905000"/>
            <a:ext cx="9652000" cy="889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1F2937"/>
                </a:solidFill>
                <a:latin typeface="微软雅黑"/>
              </a:defRPr>
            </a:pPr>
            <a:r>
              <a:t>SE智图问答平台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0000" y="2921000"/>
            <a:ext cx="9652000" cy="50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F2329"/>
                </a:solidFill>
                <a:latin typeface="微软雅黑"/>
              </a:defRPr>
            </a:pPr>
            <a:r>
              <a:t>基于知识图谱的软件工程课程智能问答系统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1270000" y="3556000"/>
            <a:ext cx="2032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70000" y="3810000"/>
            <a:ext cx="9652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0"/>
                </a:solidFill>
                <a:latin typeface="微软雅黑"/>
              </a:defRPr>
            </a:pPr>
            <a:r>
              <a:t>INTELLIGENT Q&amp;A SYSTEM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0000" y="4445000"/>
            <a:ext cx="3048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F2937"/>
                </a:solidFill>
                <a:latin typeface="微软雅黑"/>
              </a:defRPr>
            </a:pPr>
            <a:r>
              <a:t>小组成员与分工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0000" y="4953000"/>
            <a:ext cx="2286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2937"/>
                </a:solidFill>
                <a:latin typeface="微软雅黑"/>
              </a:defRPr>
            </a:pPr>
            <a:r>
              <a:t>符成岩（组长）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3000" y="4953000"/>
            <a:ext cx="7239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后端架构、数据库设计、RAG 问答、部署脚本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0000" y="5410200"/>
            <a:ext cx="2286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2937"/>
                </a:solidFill>
                <a:latin typeface="微软雅黑"/>
              </a:defRPr>
            </a:pPr>
            <a:r>
              <a:t>芮晓雨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3000" y="5410200"/>
            <a:ext cx="7239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Vue 3 学生端 + 教师端、D3.js 图谱可视化、ECharts 图表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0000" y="5867400"/>
            <a:ext cx="2286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2937"/>
                </a:solidFill>
                <a:latin typeface="微软雅黑"/>
              </a:defRPr>
            </a:pPr>
            <a:r>
              <a:t>苗琳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3000" y="5867400"/>
            <a:ext cx="7239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Python 知识抽取服务、黑盒测试、课程文档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0000" y="6350000"/>
            <a:ext cx="9652000" cy="30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技术栈：Vue 3 + Go Gin + MySQL + Neo4j + Ollama（Qwen3:8b）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F2937"/>
                </a:solidFill>
                <a:latin typeface="微软雅黑"/>
              </a:defRPr>
            </a:pPr>
            <a:r>
              <a:t>项目背景与目标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524000"/>
            <a:ext cx="4572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B82F6"/>
                </a:solidFill>
                <a:latin typeface="微软雅黑"/>
              </a:defRPr>
            </a:pPr>
            <a:r>
              <a:t>背景痛点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6000" y="2032000"/>
            <a:ext cx="2413000" cy="1905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2032000"/>
            <a:ext cx="2413000" cy="60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8400" y="2235200"/>
            <a:ext cx="2108200" cy="406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F2937"/>
                </a:solidFill>
                <a:latin typeface="微软雅黑"/>
              </a:defRPr>
            </a:pPr>
            <a:r>
              <a:t>知识获取低效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8400" y="2667000"/>
            <a:ext cx="2108200" cy="1143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海量课程资料分散无序，学生难以快速定位知识点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56000" y="2032000"/>
            <a:ext cx="2413000" cy="1905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56000" y="2032000"/>
            <a:ext cx="2413000" cy="60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8400" y="2235200"/>
            <a:ext cx="2108200" cy="406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F2937"/>
                </a:solidFill>
                <a:latin typeface="微软雅黑"/>
              </a:defRPr>
            </a:pPr>
            <a:r>
              <a:t>知识体系零散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8400" y="2667000"/>
            <a:ext cx="2108200" cy="1143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知识点间关联被隐藏，无法构建系统化网络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6000" y="4191000"/>
            <a:ext cx="2413000" cy="1905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6000" y="4191000"/>
            <a:ext cx="2413000" cy="60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8400" y="4394200"/>
            <a:ext cx="2108200" cy="406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F2937"/>
                </a:solidFill>
                <a:latin typeface="微软雅黑"/>
              </a:defRPr>
            </a:pPr>
            <a:r>
              <a:t>评估方式单一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8400" y="4826000"/>
            <a:ext cx="2108200" cy="1143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传统考试难以动态、个性化评估学习效果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56000" y="4191000"/>
            <a:ext cx="2413000" cy="1905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56000" y="4191000"/>
            <a:ext cx="2413000" cy="60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8400" y="4394200"/>
            <a:ext cx="2108200" cy="406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F2937"/>
                </a:solidFill>
                <a:latin typeface="微软雅黑"/>
              </a:defRPr>
            </a:pPr>
            <a:r>
              <a:t>资源更新滞后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8400" y="4826000"/>
            <a:ext cx="2108200" cy="1143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教师手动更新耗时，内容滞后于技术发展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3000" y="1524000"/>
            <a:ext cx="4953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B82F6"/>
                </a:solidFill>
                <a:latin typeface="微软雅黑"/>
              </a:defRPr>
            </a:pPr>
            <a:r>
              <a:t>项目目标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3000" y="2032000"/>
            <a:ext cx="4953000" cy="1524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23000" y="2032000"/>
            <a:ext cx="4953000" cy="60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5400" y="2235200"/>
            <a:ext cx="4648200" cy="406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F2937"/>
                </a:solidFill>
                <a:latin typeface="微软雅黑"/>
              </a:defRPr>
            </a:pPr>
            <a:r>
              <a:t>知识图谱可视化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5400" y="2667000"/>
            <a:ext cx="4648200" cy="7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将课程文档转化为知识图谱，结构化存储与可视化展示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23000" y="3683000"/>
            <a:ext cx="4953000" cy="1524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23000" y="3683000"/>
            <a:ext cx="4953000" cy="60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5400" y="3886200"/>
            <a:ext cx="4648200" cy="406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F2937"/>
                </a:solidFill>
                <a:latin typeface="微软雅黑"/>
              </a:defRPr>
            </a:pPr>
            <a:r>
              <a:t>智能问答服务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5400" y="4318000"/>
            <a:ext cx="4648200" cy="7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基于 RAG + 本地 LLM，提供精准自然语言问答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23000" y="5334000"/>
            <a:ext cx="4953000" cy="1524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23000" y="5334000"/>
            <a:ext cx="4953000" cy="60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5400" y="5537200"/>
            <a:ext cx="4648200" cy="406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F2937"/>
                </a:solidFill>
                <a:latin typeface="微软雅黑"/>
              </a:defRPr>
            </a:pPr>
            <a:r>
              <a:t>学习分析评估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5400" y="5969000"/>
            <a:ext cx="4648200" cy="7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分析答题记录，自动评估知识点掌握度，生成可视化报告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6000" y="6477000"/>
            <a:ext cx="10160000" cy="30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两类角色：学生端（问答、图谱浏览、练习、分析）+ 教师端（图谱构建、题库管理、资料审核）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F2937"/>
                </a:solidFill>
                <a:latin typeface="微软雅黑"/>
              </a:defRPr>
            </a:pPr>
            <a:r>
              <a:t>项目成员组成与分工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6000" y="1651000"/>
            <a:ext cx="10160000" cy="1651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16000" y="1651000"/>
            <a:ext cx="76200" cy="1651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97000" y="1803400"/>
            <a:ext cx="2540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F2937"/>
                </a:solidFill>
                <a:latin typeface="微软雅黑"/>
              </a:defRPr>
            </a:pPr>
            <a:r>
              <a:t>符成岩（组长）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4000" y="1828800"/>
            <a:ext cx="1778000" cy="3048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64000" y="1828800"/>
            <a:ext cx="1778000" cy="304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后端开发与系统架构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7000" y="2260600"/>
            <a:ext cx="9525000" cy="10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• 系统架构设计（Go Gin + Vue 3 + MySQL + Neo4j + MinIO）</a:t>
            </a:r>
          </a:p>
          <a:p>
            <a:pPr algn="l"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• 后端核心开发：用户认证、资料管理、知识图谱、智能问答、题库、学习分析</a:t>
            </a:r>
          </a:p>
          <a:p>
            <a:pPr algn="l"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• 数据库设计：MySQL 业务表 + Neo4j 图谱模型</a:t>
            </a:r>
          </a:p>
          <a:p>
            <a:pPr algn="l"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• 应用生命周期管理与部署脚本（start.bat / stop.bat）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6000" y="3429000"/>
            <a:ext cx="10160000" cy="1651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3429000"/>
            <a:ext cx="76200" cy="1651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7000" y="3581400"/>
            <a:ext cx="2540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F2937"/>
                </a:solidFill>
                <a:latin typeface="微软雅黑"/>
              </a:defRPr>
            </a:pPr>
            <a:r>
              <a:t>芮晓雨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4000" y="3606800"/>
            <a:ext cx="1778000" cy="3048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4000" y="3606800"/>
            <a:ext cx="1778000" cy="304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前端开发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7000" y="4038600"/>
            <a:ext cx="9525000" cy="10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• 学生端 Vue 3 SPA：登录注册、问答、图谱、练习、统计等全部页面</a:t>
            </a:r>
          </a:p>
          <a:p>
            <a:pPr algn="l"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• 教师端 admin-vue-app：管理仪表盘、资料审核、题目/学生管理</a:t>
            </a:r>
          </a:p>
          <a:p>
            <a:pPr algn="l"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• D3.js 知识图谱力导向布局可视化</a:t>
            </a:r>
          </a:p>
          <a:p>
            <a:pPr algn="l"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• ECharts 学习统计图表、Vue Router 路由鉴权、Pinia 状态管理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6000" y="5207000"/>
            <a:ext cx="10160000" cy="1651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16000" y="5207000"/>
            <a:ext cx="76200" cy="1651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97000" y="5359400"/>
            <a:ext cx="2540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F2937"/>
                </a:solidFill>
                <a:latin typeface="微软雅黑"/>
              </a:defRPr>
            </a:pPr>
            <a:r>
              <a:t>苗琳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64000" y="5384800"/>
            <a:ext cx="1778000" cy="3048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64000" y="5384800"/>
            <a:ext cx="1778000" cy="304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测试、文档与 AI 模块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7000" y="5816600"/>
            <a:ext cx="9525000" cy="10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• Python 知识抽取服务：实体识别、关系抽取、FAISS 向量化</a:t>
            </a:r>
          </a:p>
          <a:p>
            <a:pPr algn="l"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• 黑盒测试用例设计与执行（30+ 用例）</a:t>
            </a:r>
          </a:p>
          <a:p>
            <a:pPr algn="l"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• 全套课程文档编写（需求分析、设计文档、测试文档等）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F2937"/>
                </a:solidFill>
                <a:latin typeface="微软雅黑"/>
              </a:defRPr>
            </a:pPr>
            <a:r>
              <a:t>系统技术架构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6000" y="1651000"/>
            <a:ext cx="50800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16000" y="1651000"/>
            <a:ext cx="76200" cy="2286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20800" y="1905000"/>
            <a:ext cx="609600" cy="6096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59000" y="1905000"/>
            <a:ext cx="36322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F2937"/>
                </a:solidFill>
                <a:latin typeface="微软雅黑"/>
              </a:defRPr>
            </a:pPr>
            <a:r>
              <a:t>前端展示层 (Vue 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59000" y="2336800"/>
            <a:ext cx="3632200" cy="25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B82F6"/>
                </a:solidFill>
                <a:latin typeface="微软雅黑"/>
              </a:defRPr>
            </a:pPr>
            <a:r>
              <a:t>用户交互与界面渲染核心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0800" y="2794000"/>
            <a:ext cx="4470400" cy="10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Vue 3 + TypeScript + Element Plus + D3.js + ECharts，通过 HTTP/REST API 与后端通信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77000" y="1651000"/>
            <a:ext cx="50800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77000" y="1651000"/>
            <a:ext cx="76200" cy="2286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81800" y="1905000"/>
            <a:ext cx="609600" cy="6096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0" y="1905000"/>
            <a:ext cx="36322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F2937"/>
                </a:solidFill>
                <a:latin typeface="微软雅黑"/>
              </a:defRPr>
            </a:pPr>
            <a:r>
              <a:t>后端服务层 (Go + Gin)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0" y="2336800"/>
            <a:ext cx="3632200" cy="25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B82F6"/>
                </a:solidFill>
                <a:latin typeface="微软雅黑"/>
              </a:defRPr>
            </a:pPr>
            <a:r>
              <a:t>业务逻辑与 API 网关中枢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1800" y="2794000"/>
            <a:ext cx="4470400" cy="10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Gin RESTful API，MVC 分层：Controller → Service → Repository，JWT 鉴权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6000" y="4191000"/>
            <a:ext cx="50800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16000" y="4191000"/>
            <a:ext cx="76200" cy="2286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320800" y="4445000"/>
            <a:ext cx="609600" cy="6096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59000" y="4445000"/>
            <a:ext cx="36322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F2937"/>
                </a:solidFill>
                <a:latin typeface="微软雅黑"/>
              </a:defRPr>
            </a:pPr>
            <a:r>
              <a:t>AI 智能服务层 (Python)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59000" y="4876800"/>
            <a:ext cx="3632200" cy="25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B82F6"/>
                </a:solidFill>
                <a:latin typeface="微软雅黑"/>
              </a:defRPr>
            </a:pPr>
            <a:r>
              <a:t>计算密集型任务处理单元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0800" y="5334000"/>
            <a:ext cx="4470400" cy="10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Ollama 部署 Qwen3:8b + Nomic-embed-text，RAG 检索增强生成、LLM 知识抽取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77000" y="4191000"/>
            <a:ext cx="50800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77000" y="4191000"/>
            <a:ext cx="76200" cy="2286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781800" y="4445000"/>
            <a:ext cx="609600" cy="6096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0000" y="4445000"/>
            <a:ext cx="36322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F2937"/>
                </a:solidFill>
                <a:latin typeface="微软雅黑"/>
              </a:defRPr>
            </a:pPr>
            <a:r>
              <a:t>多维数据存储层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0" y="4876800"/>
            <a:ext cx="3632200" cy="25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B82F6"/>
                </a:solidFill>
                <a:latin typeface="微软雅黑"/>
              </a:defRPr>
            </a:pPr>
            <a:r>
              <a:t>混合架构存储解决方案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1800" y="5334000"/>
            <a:ext cx="4470400" cy="10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MySQL（业务数据）+ Neo4j（知识图谱）+ MinIO（文件存储）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F2937"/>
                </a:solidFill>
                <a:latin typeface="微软雅黑"/>
              </a:defRPr>
            </a:pPr>
            <a:r>
              <a:t>核心功能 — 智能问答（RAG）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600" y="1651000"/>
            <a:ext cx="2032000" cy="203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651000"/>
            <a:ext cx="2032000" cy="60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1854200"/>
            <a:ext cx="508000" cy="5080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79600"/>
            <a:ext cx="508000" cy="50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463800"/>
            <a:ext cx="17272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F2937"/>
                </a:solidFill>
                <a:latin typeface="微软雅黑"/>
              </a:defRPr>
            </a:pPr>
            <a:r>
              <a:t>用户提问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921000"/>
            <a:ext cx="1727200" cy="609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自然语言输入</a:t>
            </a:r>
            <a:br/>
            <a:r>
              <a:t>支持多轮对话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9700" y="2463800"/>
            <a:ext cx="1524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B82F6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95600" y="1651000"/>
            <a:ext cx="2032000" cy="203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95600" y="1651000"/>
            <a:ext cx="2032000" cy="60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7600" y="1854200"/>
            <a:ext cx="508000" cy="5080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1879600"/>
            <a:ext cx="508000" cy="50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8000" y="2463800"/>
            <a:ext cx="17272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F2937"/>
                </a:solidFill>
                <a:latin typeface="微软雅黑"/>
              </a:defRPr>
            </a:pPr>
            <a:r>
              <a:t>文本向量化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8000" y="2921000"/>
            <a:ext cx="1727200" cy="609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Nomic-embed-text</a:t>
            </a:r>
            <a:br/>
            <a:r>
              <a:t>768维向量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65700" y="2463800"/>
            <a:ext cx="1524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B82F6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81600" y="1651000"/>
            <a:ext cx="2032000" cy="203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81600" y="1651000"/>
            <a:ext cx="2032000" cy="60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0" y="1854200"/>
            <a:ext cx="508000" cy="5080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1879600"/>
            <a:ext cx="508000" cy="50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0" y="2463800"/>
            <a:ext cx="17272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F2937"/>
                </a:solidFill>
                <a:latin typeface="微软雅黑"/>
              </a:defRPr>
            </a:pPr>
            <a:r>
              <a:t>向量检索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0" y="2921000"/>
            <a:ext cx="1727200" cy="609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余弦相似度</a:t>
            </a:r>
            <a:br/>
            <a:r>
              <a:t>Top-K匹配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51700" y="2463800"/>
            <a:ext cx="1524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B82F6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67600" y="1651000"/>
            <a:ext cx="2032000" cy="203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67600" y="1651000"/>
            <a:ext cx="2032000" cy="60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1854200"/>
            <a:ext cx="508000" cy="5080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1879600"/>
            <a:ext cx="508000" cy="50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0000" y="2463800"/>
            <a:ext cx="17272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F2937"/>
                </a:solidFill>
                <a:latin typeface="微软雅黑"/>
              </a:defRPr>
            </a:pPr>
            <a:r>
              <a:t>LLM生成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0" y="2921000"/>
            <a:ext cx="1727200" cy="609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Qwen3:8b</a:t>
            </a:r>
            <a:br/>
            <a:r>
              <a:t>检索增强生成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37700" y="2463800"/>
            <a:ext cx="1524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B82F6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53600" y="1651000"/>
            <a:ext cx="2032000" cy="203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753600" y="1651000"/>
            <a:ext cx="2032000" cy="60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515600" y="1854200"/>
            <a:ext cx="508000" cy="5080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0" y="1879600"/>
            <a:ext cx="508000" cy="50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06000" y="2463800"/>
            <a:ext cx="17272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F2937"/>
                </a:solidFill>
                <a:latin typeface="微软雅黑"/>
              </a:defRPr>
            </a:pPr>
            <a:r>
              <a:t>流式输出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06000" y="2921000"/>
            <a:ext cx="1727200" cy="609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SSE推送</a:t>
            </a:r>
            <a:br/>
            <a:r>
              <a:t>逐Token返回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6000" y="4064000"/>
            <a:ext cx="5080000" cy="241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6000" y="4064000"/>
            <a:ext cx="5080000" cy="60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68400" y="4267200"/>
            <a:ext cx="4775200" cy="406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F2937"/>
                </a:solidFill>
                <a:latin typeface="微软雅黑"/>
              </a:defRPr>
            </a:pPr>
            <a:r>
              <a:t>降级方案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68400" y="4699000"/>
            <a:ext cx="4775200" cy="165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• Ollama 不可用时自动切换为关键词匹配</a:t>
            </a:r>
          </a:p>
          <a:p>
            <a:pPr algn="l">
              <a:lnSpc>
                <a:spcPts val="20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• 基于 KnowledgePoint 表模糊查询</a:t>
            </a:r>
          </a:p>
          <a:p>
            <a:pPr algn="l">
              <a:lnSpc>
                <a:spcPts val="20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• 保证 AI 异常时仍可提供基本问答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23000" y="4064000"/>
            <a:ext cx="5080000" cy="241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23000" y="4064000"/>
            <a:ext cx="5080000" cy="60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75400" y="4267200"/>
            <a:ext cx="4775200" cy="406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F2937"/>
                </a:solidFill>
                <a:latin typeface="微软雅黑"/>
              </a:defRPr>
            </a:pPr>
            <a:r>
              <a:t>多轮对话支持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5400" y="4699000"/>
            <a:ext cx="4775200" cy="165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• AskSession 维护会话上下文</a:t>
            </a:r>
          </a:p>
          <a:p>
            <a:pPr algn="l">
              <a:lnSpc>
                <a:spcPts val="20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• 历史消息作为 LLM 输入上下文</a:t>
            </a:r>
          </a:p>
          <a:p>
            <a:pPr algn="l">
              <a:lnSpc>
                <a:spcPts val="20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• 置信度评分展示回答可靠程度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F2937"/>
                </a:solidFill>
                <a:latin typeface="微软雅黑"/>
              </a:defRPr>
            </a:pPr>
            <a:r>
              <a:t>核心功能 — 知识图谱 &amp; 题库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6000" y="1651000"/>
            <a:ext cx="5080000" cy="482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16000" y="1651000"/>
            <a:ext cx="5080000" cy="60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8400" y="1854200"/>
            <a:ext cx="4775200" cy="406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F2937"/>
                </a:solidFill>
                <a:latin typeface="微软雅黑"/>
              </a:defRPr>
            </a:pPr>
            <a:r>
              <a:t>知识图谱构建与浏览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8400" y="2286000"/>
            <a:ext cx="4775200" cy="406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• 教师选择已审核文档，一键触发自动构建</a:t>
            </a:r>
          </a:p>
          <a:p>
            <a:pPr algn="l">
              <a:lnSpc>
                <a:spcPts val="20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• LLM Prompt 引导抽取知识点与关系（JSON）</a:t>
            </a:r>
          </a:p>
          <a:p>
            <a:pPr algn="l">
              <a:lnSpc>
                <a:spcPts val="20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• 降级方案：正则 + 软件工程本体关键词规则抽取</a:t>
            </a:r>
          </a:p>
          <a:p>
            <a:pPr algn="l">
              <a:lnSpc>
                <a:spcPts val="20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• 去重检查 → 写入 Neo4j 图数据库</a:t>
            </a:r>
          </a:p>
          <a:p>
            <a:pPr algn="l">
              <a:lnSpc>
                <a:spcPts val="20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• D3.js 力导向布局可视化渲染</a:t>
            </a:r>
          </a:p>
          <a:p>
            <a:pPr algn="l">
              <a:lnSpc>
                <a:spcPts val="20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• 支持节点拖拽、滚轮缩放、点击查看详情</a:t>
            </a:r>
          </a:p>
          <a:p>
            <a:pPr algn="l">
              <a:lnSpc>
                <a:spcPts val="20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• 不同分类知识点使用不同颜色区分</a:t>
            </a:r>
          </a:p>
          <a:p>
            <a:pPr algn="l">
              <a:lnSpc>
                <a:spcPts val="20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• 构建统计：新增知识点数、关系数、跳过重复数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3000" y="1651000"/>
            <a:ext cx="5080000" cy="241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23000" y="1651000"/>
            <a:ext cx="5080000" cy="60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5400" y="1854200"/>
            <a:ext cx="4775200" cy="406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F2937"/>
                </a:solidFill>
                <a:latin typeface="微软雅黑"/>
              </a:defRPr>
            </a:pPr>
            <a:r>
              <a:t>题库练习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5400" y="2286000"/>
            <a:ext cx="4775200" cy="165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• 题目列表支持按难度、知识点筛选</a:t>
            </a:r>
          </a:p>
          <a:p>
            <a:pPr algn="l">
              <a:lnSpc>
                <a:spcPts val="20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• 单选/多选题型，难度分 easy/medium/hard</a:t>
            </a:r>
          </a:p>
          <a:p>
            <a:pPr algn="l">
              <a:lnSpc>
                <a:spcPts val="20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• 选择答案提交 → 即时评分 + 详细解析</a:t>
            </a:r>
          </a:p>
          <a:p>
            <a:pPr algn="l">
              <a:lnSpc>
                <a:spcPts val="20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• 答题记录持久化，支持历史查看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3000" y="4241800"/>
            <a:ext cx="5080000" cy="2235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23000" y="4241800"/>
            <a:ext cx="5080000" cy="60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5400" y="4445000"/>
            <a:ext cx="4775200" cy="406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F2937"/>
                </a:solidFill>
                <a:latin typeface="微软雅黑"/>
              </a:defRPr>
            </a:pPr>
            <a:r>
              <a:t>学习分析 &amp; 教师端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5400" y="4876800"/>
            <a:ext cx="4775200" cy="147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• ECharts 统计图表：问答次数、正确率、薄弱知识点</a:t>
            </a:r>
          </a:p>
          <a:p>
            <a:pPr algn="l">
              <a:lnSpc>
                <a:spcPts val="20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• 教师端独立管理后台（admin-vue-app）</a:t>
            </a:r>
          </a:p>
          <a:p>
            <a:pPr algn="l">
              <a:lnSpc>
                <a:spcPts val="20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• 资料审核、知识点/题目 CRUD、学生管理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F2937"/>
                </a:solidFill>
                <a:latin typeface="微软雅黑"/>
              </a:defRPr>
            </a:pPr>
            <a:r>
              <a:t>系统测试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6000" y="1651000"/>
            <a:ext cx="34290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16000" y="1651000"/>
            <a:ext cx="3429000" cy="60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8400" y="1854200"/>
            <a:ext cx="3124200" cy="406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F2937"/>
                </a:solidFill>
                <a:latin typeface="微软雅黑"/>
              </a:defRPr>
            </a:pPr>
            <a:r>
              <a:t>单元测试 &amp; 端到端测试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8400" y="2286000"/>
            <a:ext cx="3124200" cy="381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• 后端 Service 层核心逻辑单元测试</a:t>
            </a:r>
          </a:p>
          <a:p>
            <a:pPr algn="l">
              <a:lnSpc>
                <a:spcPts val="20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• Repository 层数据库操作测试</a:t>
            </a:r>
          </a:p>
          <a:p>
            <a:pPr algn="l">
              <a:lnSpc>
                <a:spcPts val="20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• 前端组件渲染与交互测试</a:t>
            </a:r>
          </a:p>
          <a:p>
            <a:pPr algn="l">
              <a:lnSpc>
                <a:spcPts val="20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• API 接口端到端联调测试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651000"/>
            <a:ext cx="34290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1651000"/>
            <a:ext cx="3429000" cy="60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4400" y="1854200"/>
            <a:ext cx="3124200" cy="406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F2937"/>
                </a:solidFill>
                <a:latin typeface="微软雅黑"/>
              </a:defRPr>
            </a:pPr>
            <a:r>
              <a:t>黑盒测试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4400" y="2286000"/>
            <a:ext cx="3124200" cy="381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• 30+ 测试用例，覆盖全部核心功能</a:t>
            </a:r>
          </a:p>
          <a:p>
            <a:pPr algn="l">
              <a:lnSpc>
                <a:spcPts val="20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• Postman / curl 构造 HTTP 请求验证</a:t>
            </a:r>
          </a:p>
          <a:p>
            <a:pPr algn="l">
              <a:lnSpc>
                <a:spcPts val="20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• 覆盖：注册登录、智能问答、图谱构建</a:t>
            </a:r>
          </a:p>
          <a:p>
            <a:pPr algn="l">
              <a:lnSpc>
                <a:spcPts val="20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• 覆盖：题库练习、资料管理、教师端</a:t>
            </a:r>
          </a:p>
          <a:p>
            <a:pPr algn="l">
              <a:lnSpc>
                <a:spcPts val="20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• 涵盖正常流程与异常边界条件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0" y="1651000"/>
            <a:ext cx="34290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28000" y="1651000"/>
            <a:ext cx="3429000" cy="60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0400" y="1854200"/>
            <a:ext cx="3124200" cy="406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F2937"/>
                </a:solidFill>
                <a:latin typeface="微软雅黑"/>
              </a:defRPr>
            </a:pPr>
            <a:r>
              <a:t>自动化测试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0400" y="2286000"/>
            <a:ext cx="3124200" cy="381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• start.bat / stop.bat 一键启停脚本</a:t>
            </a:r>
          </a:p>
          <a:p>
            <a:pPr algn="l">
              <a:lnSpc>
                <a:spcPts val="20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• GORM AutoMigrate 自动建表</a:t>
            </a:r>
          </a:p>
          <a:p>
            <a:pPr algn="l">
              <a:lnSpc>
                <a:spcPts val="20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• 种子数据自动初始化（首次启动）</a:t>
            </a:r>
          </a:p>
          <a:p>
            <a:pPr algn="l">
              <a:lnSpc>
                <a:spcPts val="20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• Vite 热重载前端开发自动化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6000" y="6350000"/>
            <a:ext cx="10160000" cy="304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6000" y="6350000"/>
            <a:ext cx="10160000" cy="304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F2937"/>
                </a:solidFill>
                <a:latin typeface="微软雅黑"/>
              </a:defRPr>
            </a:pPr>
            <a:r>
              <a:t>✅ 测试结论：各功能模块运行正常，系统整体稳定可靠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F2937"/>
                </a:solidFill>
                <a:latin typeface="微软雅黑"/>
              </a:defRPr>
            </a:pPr>
            <a:r>
              <a:t>总结 — 成果与不足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524000"/>
            <a:ext cx="4572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B82F6"/>
                </a:solidFill>
                <a:latin typeface="微软雅黑"/>
              </a:defRPr>
            </a:pPr>
            <a:r>
              <a:t>项目成果</a:t>
            </a:r>
          </a:p>
        </p:txBody>
      </p:sp>
      <p:sp>
        <p:nvSpPr>
          <p:cNvPr id="4" name="Oval 3"/>
          <p:cNvSpPr/>
          <p:nvPr/>
        </p:nvSpPr>
        <p:spPr>
          <a:xfrm>
            <a:off x="1016000" y="2092960"/>
            <a:ext cx="127000" cy="1270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97000" y="2032000"/>
            <a:ext cx="4267200" cy="30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微软雅黑"/>
              </a:defRPr>
            </a:pPr>
            <a:r>
              <a:t>完整前后端分离平台（Vue 3 + Go Gin）</a:t>
            </a:r>
          </a:p>
        </p:txBody>
      </p:sp>
      <p:sp>
        <p:nvSpPr>
          <p:cNvPr id="6" name="Oval 5"/>
          <p:cNvSpPr/>
          <p:nvPr/>
        </p:nvSpPr>
        <p:spPr>
          <a:xfrm>
            <a:off x="1016000" y="2702560"/>
            <a:ext cx="127000" cy="1270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7000" y="2641600"/>
            <a:ext cx="4267200" cy="30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微软雅黑"/>
              </a:defRPr>
            </a:pPr>
            <a:r>
              <a:t>集成 RAG + 本地 LLM（Qwen3:8b）智能问答</a:t>
            </a:r>
          </a:p>
        </p:txBody>
      </p:sp>
      <p:sp>
        <p:nvSpPr>
          <p:cNvPr id="8" name="Oval 7"/>
          <p:cNvSpPr/>
          <p:nvPr/>
        </p:nvSpPr>
        <p:spPr>
          <a:xfrm>
            <a:off x="1016000" y="3312160"/>
            <a:ext cx="127000" cy="1270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7000" y="3251200"/>
            <a:ext cx="4267200" cy="30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微软雅黑"/>
              </a:defRPr>
            </a:pPr>
            <a:r>
              <a:t>LLM 驱动的知识图谱自动构建，具备降级方案</a:t>
            </a:r>
          </a:p>
        </p:txBody>
      </p:sp>
      <p:sp>
        <p:nvSpPr>
          <p:cNvPr id="10" name="Oval 9"/>
          <p:cNvSpPr/>
          <p:nvPr/>
        </p:nvSpPr>
        <p:spPr>
          <a:xfrm>
            <a:off x="1016000" y="3921760"/>
            <a:ext cx="127000" cy="1270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7000" y="3860800"/>
            <a:ext cx="4267200" cy="30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微软雅黑"/>
              </a:defRPr>
            </a:pPr>
            <a:r>
              <a:t>D3.js 知识图谱可视化 + ECharts 学习分析</a:t>
            </a:r>
          </a:p>
        </p:txBody>
      </p:sp>
      <p:sp>
        <p:nvSpPr>
          <p:cNvPr id="12" name="Oval 11"/>
          <p:cNvSpPr/>
          <p:nvPr/>
        </p:nvSpPr>
        <p:spPr>
          <a:xfrm>
            <a:off x="1016000" y="4531360"/>
            <a:ext cx="127000" cy="1270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7000" y="4470400"/>
            <a:ext cx="4267200" cy="30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微软雅黑"/>
              </a:defRPr>
            </a:pPr>
            <a:r>
              <a:t>学生/教师双角色完整功能闭环</a:t>
            </a:r>
          </a:p>
        </p:txBody>
      </p:sp>
      <p:sp>
        <p:nvSpPr>
          <p:cNvPr id="14" name="Oval 13"/>
          <p:cNvSpPr/>
          <p:nvPr/>
        </p:nvSpPr>
        <p:spPr>
          <a:xfrm>
            <a:off x="1016000" y="5140960"/>
            <a:ext cx="127000" cy="1270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97000" y="5080000"/>
            <a:ext cx="4267200" cy="30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微软雅黑"/>
              </a:defRPr>
            </a:pPr>
            <a:r>
              <a:t>30+ 黑盒测试用例全部通过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3000" y="1524000"/>
            <a:ext cx="4953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B82F6"/>
                </a:solidFill>
                <a:latin typeface="微软雅黑"/>
              </a:defRPr>
            </a:pPr>
            <a:r>
              <a:t>不足与展望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000" y="2032000"/>
            <a:ext cx="4953000" cy="838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23000" y="2032000"/>
            <a:ext cx="4953000" cy="60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5400" y="2235200"/>
            <a:ext cx="4648200" cy="406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F2937"/>
                </a:solidFill>
                <a:latin typeface="微软雅黑"/>
              </a:defRPr>
            </a:pPr>
            <a:r>
              <a:t>知识抽取精度有限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5400" y="2667000"/>
            <a:ext cx="4648200" cy="76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微软雅黑"/>
              </a:defRPr>
            </a:pPr>
            <a:r>
              <a:t>可引入 Few-shot Learning、更强 NER/RE 模型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3000" y="2946400"/>
            <a:ext cx="4953000" cy="838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23000" y="2946400"/>
            <a:ext cx="4953000" cy="60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5400" y="3149600"/>
            <a:ext cx="4648200" cy="406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F2937"/>
                </a:solidFill>
                <a:latin typeface="微软雅黑"/>
              </a:defRPr>
            </a:pPr>
            <a:r>
              <a:t>缺少容器化部署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5400" y="3581400"/>
            <a:ext cx="4648200" cy="76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微软雅黑"/>
              </a:defRPr>
            </a:pPr>
            <a:r>
              <a:t>可使用 Docker Compose 一键部署所有服务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23000" y="3860800"/>
            <a:ext cx="4953000" cy="838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23000" y="3860800"/>
            <a:ext cx="4953000" cy="60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5400" y="4064000"/>
            <a:ext cx="4648200" cy="406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F2937"/>
                </a:solidFill>
                <a:latin typeface="微软雅黑"/>
              </a:defRPr>
            </a:pPr>
            <a:r>
              <a:t>测试以黑盒为主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5400" y="4495800"/>
            <a:ext cx="4648200" cy="76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微软雅黑"/>
              </a:defRPr>
            </a:pPr>
            <a:r>
              <a:t>可补充单元测试和集成测试，完善质量保障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23000" y="4775200"/>
            <a:ext cx="4953000" cy="838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23000" y="4775200"/>
            <a:ext cx="4953000" cy="60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5400" y="4978400"/>
            <a:ext cx="4648200" cy="406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F2937"/>
                </a:solidFill>
                <a:latin typeface="微软雅黑"/>
              </a:defRPr>
            </a:pPr>
            <a:r>
              <a:t>用户体验待优化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5400" y="5410200"/>
            <a:ext cx="4648200" cy="76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微软雅黑"/>
              </a:defRPr>
            </a:pPr>
            <a:r>
              <a:t>响应式布局、错误提示友好度、交互细节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0" y="5842400"/>
            <a:ext cx="12192000" cy="609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F2937"/>
                </a:solidFill>
                <a:latin typeface="微软雅黑"/>
              </a:defRPr>
            </a:pPr>
            <a:r>
              <a:t>感谢指导老师与各位评委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0" y="6350000"/>
            <a:ext cx="12192000" cy="304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280"/>
                </a:solidFill>
                <a:latin typeface="微软雅黑"/>
              </a:defRPr>
            </a:pPr>
            <a:r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