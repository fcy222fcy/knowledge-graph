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27"/>
  </p:notesMasterIdLst>
  <p:handoutMasterIdLst>
    <p:handoutMasterId r:id="rId28"/>
  </p:handoutMasterIdLst>
  <p:sldIdLst>
    <p:sldId id="713" r:id="rId3"/>
    <p:sldId id="2340" r:id="rId4"/>
    <p:sldId id="2270" r:id="rId5"/>
    <p:sldId id="2265" r:id="rId6"/>
    <p:sldId id="2266" r:id="rId7"/>
    <p:sldId id="2267" r:id="rId8"/>
    <p:sldId id="2268" r:id="rId9"/>
    <p:sldId id="2269" r:id="rId10"/>
    <p:sldId id="1944" r:id="rId11"/>
    <p:sldId id="1945" r:id="rId12"/>
    <p:sldId id="1946" r:id="rId13"/>
    <p:sldId id="1947" r:id="rId14"/>
    <p:sldId id="1948" r:id="rId15"/>
    <p:sldId id="1949" r:id="rId16"/>
    <p:sldId id="1950" r:id="rId17"/>
    <p:sldId id="1951" r:id="rId18"/>
    <p:sldId id="1952" r:id="rId19"/>
    <p:sldId id="1953" r:id="rId20"/>
    <p:sldId id="1954" r:id="rId21"/>
    <p:sldId id="1955" r:id="rId22"/>
    <p:sldId id="1956" r:id="rId23"/>
    <p:sldId id="1957" r:id="rId24"/>
    <p:sldId id="1958" r:id="rId25"/>
    <p:sldId id="1959" r:id="rId26"/>
  </p:sldIdLst>
  <p:sldSz cx="12192000" cy="6858000"/>
  <p:notesSz cx="6858000" cy="9144000"/>
  <p:custDataLst>
    <p:tags r:id="rId29"/>
  </p:custDataLst>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 xmlns:p15="http://schemas.microsoft.com/office/powerpoint/2012/main">
        <p15:guide id="1" orient="horz" pos="2217">
          <p15:clr>
            <a:srgbClr val="A4A3A4"/>
          </p15:clr>
        </p15:guide>
        <p15:guide id="2" pos="390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 Wei" initials="C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4"/>
    <p:restoredTop sz="94664"/>
  </p:normalViewPr>
  <p:slideViewPr>
    <p:cSldViewPr showGuides="1">
      <p:cViewPr varScale="1">
        <p:scale>
          <a:sx n="50" d="100"/>
          <a:sy n="50" d="100"/>
        </p:scale>
        <p:origin x="-888" y="-90"/>
      </p:cViewPr>
      <p:guideLst>
        <p:guide orient="horz" pos="2217"/>
        <p:guide pos="390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2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2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2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1076" name="Rectangle 4"/>
          <p:cNvSpPr>
            <a:spLocks noGrp="1" noRot="1" noChangeAspect="1" noTextEdit="1"/>
          </p:cNvSpPr>
          <p:nvPr>
            <p:ph type="sldImg" idx="2"/>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1229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229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250381502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Rectangle 18"/>
          <p:cNvSpPr>
            <a:spLocks noChangeArrowheads="1"/>
          </p:cNvSpPr>
          <p:nvPr userDrawn="1"/>
        </p:nvSpPr>
        <p:spPr bwMode="auto">
          <a:xfrm>
            <a:off x="711200" y="1196975"/>
            <a:ext cx="10363200" cy="860425"/>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单击此处编辑母版标题样式</a:t>
            </a:r>
          </a:p>
        </p:txBody>
      </p:sp>
      <p:sp>
        <p:nvSpPr>
          <p:cNvPr id="17" name="Rectangle 19"/>
          <p:cNvSpPr>
            <a:spLocks noChangeArrowheads="1"/>
          </p:cNvSpPr>
          <p:nvPr userDrawn="1"/>
        </p:nvSpPr>
        <p:spPr bwMode="auto">
          <a:xfrm>
            <a:off x="814917" y="2420938"/>
            <a:ext cx="10566400" cy="4267200"/>
          </a:xfrm>
          <a:prstGeom prst="rect">
            <a:avLst/>
          </a:prstGeom>
          <a:noFill/>
          <a:ln w="9525">
            <a:noFill/>
            <a:miter lim="800000"/>
          </a:ln>
          <a:effectLst/>
        </p:spPr>
        <p:txBody>
          <a:bodyPr/>
          <a:lstStyle/>
          <a:p>
            <a:pPr marL="287655" marR="0" lvl="0" indent="-287655"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单击此处编辑母版副标题样式</a:t>
            </a:r>
          </a:p>
        </p:txBody>
      </p:sp>
      <p:pic>
        <p:nvPicPr>
          <p:cNvPr id="6148" name="Picture 20"/>
          <p:cNvPicPr>
            <a:picLocks noChangeAspect="1"/>
          </p:cNvPicPr>
          <p:nvPr userDrawn="1"/>
        </p:nvPicPr>
        <p:blipFill>
          <a:blip r:embed="rId3"/>
          <a:stretch>
            <a:fillRect/>
          </a:stretch>
        </p:blipFill>
        <p:spPr>
          <a:xfrm>
            <a:off x="0" y="0"/>
            <a:ext cx="12192000" cy="6823075"/>
          </a:xfrm>
          <a:prstGeom prst="rect">
            <a:avLst/>
          </a:prstGeom>
          <a:noFill/>
          <a:ln w="9525">
            <a:noFill/>
          </a:ln>
        </p:spPr>
      </p:pic>
      <p:pic>
        <p:nvPicPr>
          <p:cNvPr id="6149" name="Picture 21"/>
          <p:cNvPicPr>
            <a:picLocks noChangeAspect="1"/>
          </p:cNvPicPr>
          <p:nvPr userDrawn="1"/>
        </p:nvPicPr>
        <p:blipFill>
          <a:blip r:embed="rId3"/>
          <a:stretch>
            <a:fillRect/>
          </a:stretch>
        </p:blipFill>
        <p:spPr>
          <a:xfrm>
            <a:off x="0" y="0"/>
            <a:ext cx="12192000" cy="6823075"/>
          </a:xfrm>
          <a:prstGeom prst="rect">
            <a:avLst/>
          </a:prstGeom>
          <a:noFill/>
          <a:ln w="9525">
            <a:noFill/>
          </a:ln>
        </p:spPr>
      </p:pic>
      <p:sp>
        <p:nvSpPr>
          <p:cNvPr id="20" name="Rectangle 22" descr="a1"/>
          <p:cNvSpPr>
            <a:spLocks noChangeArrowheads="1"/>
          </p:cNvSpPr>
          <p:nvPr userDrawn="1"/>
        </p:nvSpPr>
        <p:spPr bwMode="gray">
          <a:xfrm>
            <a:off x="0" y="0"/>
            <a:ext cx="3048000" cy="838200"/>
          </a:xfrm>
          <a:prstGeom prst="rect">
            <a:avLst/>
          </a:prstGeom>
          <a:blipFill dpi="0" rotWithShape="1">
            <a:blip r:embed="rId4"/>
            <a:srcRect/>
            <a:stretch>
              <a:fillRect/>
            </a:stretch>
          </a:blip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23"/>
          <p:cNvSpPr>
            <a:spLocks noChangeArrowheads="1"/>
          </p:cNvSpPr>
          <p:nvPr userDrawn="1"/>
        </p:nvSpPr>
        <p:spPr bwMode="gray">
          <a:xfrm>
            <a:off x="3048000" y="0"/>
            <a:ext cx="2946400" cy="838200"/>
          </a:xfrm>
          <a:prstGeom prst="rect">
            <a:avLst/>
          </a:prstGeom>
          <a:solidFill>
            <a:srgbClr val="3366CC"/>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24"/>
          <p:cNvSpPr>
            <a:spLocks noChangeArrowheads="1"/>
          </p:cNvSpPr>
          <p:nvPr userDrawn="1"/>
        </p:nvSpPr>
        <p:spPr bwMode="gray">
          <a:xfrm>
            <a:off x="5994400" y="0"/>
            <a:ext cx="2857500" cy="838200"/>
          </a:xfrm>
          <a:prstGeom prst="rect">
            <a:avLst/>
          </a:prstGeom>
          <a:solidFill>
            <a:srgbClr val="33CCFF"/>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25"/>
          <p:cNvSpPr>
            <a:spLocks noChangeArrowheads="1"/>
          </p:cNvSpPr>
          <p:nvPr userDrawn="1"/>
        </p:nvSpPr>
        <p:spPr bwMode="gray">
          <a:xfrm>
            <a:off x="0" y="692150"/>
            <a:ext cx="12192000" cy="36513"/>
          </a:xfrm>
          <a:prstGeom prst="rect">
            <a:avLst/>
          </a:prstGeom>
          <a:solidFill>
            <a:srgbClr val="003399"/>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26"/>
          <p:cNvSpPr>
            <a:spLocks noChangeArrowheads="1"/>
          </p:cNvSpPr>
          <p:nvPr userDrawn="1"/>
        </p:nvSpPr>
        <p:spPr bwMode="gray">
          <a:xfrm>
            <a:off x="0" y="692150"/>
            <a:ext cx="12192000" cy="144463"/>
          </a:xfrm>
          <a:prstGeom prst="rect">
            <a:avLst/>
          </a:prstGeom>
          <a:solidFill>
            <a:srgbClr val="003399"/>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Text Box 27"/>
          <p:cNvSpPr txBox="1">
            <a:spLocks noChangeArrowheads="1"/>
          </p:cNvSpPr>
          <p:nvPr userDrawn="1"/>
        </p:nvSpPr>
        <p:spPr bwMode="auto">
          <a:xfrm>
            <a:off x="3503084" y="115888"/>
            <a:ext cx="5666317" cy="953135"/>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Software    Engineering</a:t>
            </a:r>
            <a:endParaRPr kumimoji="0" lang="zh-CN" altLang="en-US" sz="2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2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6156" name="Picture 28"/>
          <p:cNvPicPr>
            <a:picLocks noChangeAspect="1"/>
          </p:cNvPicPr>
          <p:nvPr userDrawn="1"/>
        </p:nvPicPr>
        <p:blipFill>
          <a:blip r:embed="rId5"/>
          <a:stretch>
            <a:fillRect/>
          </a:stretch>
        </p:blipFill>
        <p:spPr>
          <a:xfrm>
            <a:off x="8839200" y="0"/>
            <a:ext cx="3352800" cy="685800"/>
          </a:xfrm>
          <a:prstGeom prst="rect">
            <a:avLst/>
          </a:prstGeom>
          <a:noFill/>
          <a:ln w="9525">
            <a:noFill/>
          </a:ln>
        </p:spPr>
      </p:pic>
      <p:sp>
        <p:nvSpPr>
          <p:cNvPr id="27" name="Rectangle 29"/>
          <p:cNvSpPr>
            <a:spLocks noChangeArrowheads="1"/>
          </p:cNvSpPr>
          <p:nvPr userDrawn="1"/>
        </p:nvSpPr>
        <p:spPr bwMode="auto">
          <a:xfrm>
            <a:off x="10703984" y="6381750"/>
            <a:ext cx="575733" cy="279400"/>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32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28" name="Rectangle 31"/>
          <p:cNvSpPr>
            <a:spLocks noChangeArrowheads="1"/>
          </p:cNvSpPr>
          <p:nvPr userDrawn="1"/>
        </p:nvSpPr>
        <p:spPr bwMode="auto">
          <a:xfrm>
            <a:off x="11279717" y="6553200"/>
            <a:ext cx="271780" cy="306705"/>
          </a:xfrm>
          <a:prstGeom prst="rect">
            <a:avLst/>
          </a:prstGeom>
          <a:noFill/>
          <a:ln w="9525">
            <a:noFill/>
            <a:miter lim="800000"/>
          </a:ln>
          <a:effectLst/>
        </p:spPr>
        <p:txBody>
          <a:bodyPr wrap="none">
            <a:spAutoFit/>
          </a:bodyPr>
          <a:lstStyle/>
          <a:p>
            <a:pPr lvl="0" eaLnBrk="1" hangingPunct="1">
              <a:buNone/>
            </a:pPr>
            <a:fld id="{9A0DB2DC-4C9A-4742-B13C-FB6460FD3503}" type="slidenum">
              <a:rPr lang="en-US" altLang="zh-CN" sz="1400" dirty="0">
                <a:solidFill>
                  <a:srgbClr val="003399"/>
                </a:solidFill>
                <a:latin typeface="Times New Roman" panose="02020603050405020304" pitchFamily="18" charset="0"/>
              </a:rPr>
              <a:t>‹#›</a:t>
            </a:fld>
            <a:endParaRPr lang="en-US" altLang="zh-CN" sz="1400" dirty="0">
              <a:solidFill>
                <a:srgbClr val="003399"/>
              </a:solidFill>
              <a:latin typeface="Times New Roman" panose="02020603050405020304" pitchFamily="18" charset="0"/>
            </a:endParaRPr>
          </a:p>
        </p:txBody>
      </p:sp>
      <p:sp>
        <p:nvSpPr>
          <p:cNvPr id="7170" name="Rectangle 2"/>
          <p:cNvSpPr>
            <a:spLocks noGrp="1" noChangeArrowheads="1"/>
          </p:cNvSpPr>
          <p:nvPr>
            <p:ph type="ctrTitle"/>
          </p:nvPr>
        </p:nvSpPr>
        <p:spPr bwMode="auto">
          <a:xfrm>
            <a:off x="624417" y="1341438"/>
            <a:ext cx="10363200" cy="709612"/>
          </a:xfrm>
          <a:prstGeom prst="rect">
            <a:avLst/>
          </a:prstGeom>
          <a:noFill/>
          <a:ln>
            <a:miter lim="800000"/>
          </a:ln>
        </p:spPr>
        <p:txBody>
          <a:bodyPr vert="horz" wrap="square" lIns="91440" tIns="45720" rIns="91440" bIns="45720" numCol="1" anchor="ctr" anchorCtr="0" compatLnSpc="1"/>
          <a:lstStyle>
            <a:lvl1pPr>
              <a:defRPr>
                <a:solidFill>
                  <a:schemeClr val="accent2"/>
                </a:solidFill>
              </a:defRPr>
            </a:lvl1pPr>
          </a:lstStyle>
          <a:p>
            <a:r>
              <a:rPr lang="zh-CN" altLang="en-US"/>
              <a:t>单击此处编辑母版标题样式</a:t>
            </a:r>
          </a:p>
        </p:txBody>
      </p:sp>
      <p:sp>
        <p:nvSpPr>
          <p:cNvPr id="7171" name="Rectangle 3"/>
          <p:cNvSpPr>
            <a:spLocks noGrp="1" noChangeArrowheads="1"/>
          </p:cNvSpPr>
          <p:nvPr>
            <p:ph type="subTitle" idx="1"/>
          </p:nvPr>
        </p:nvSpPr>
        <p:spPr bwMode="auto">
          <a:xfrm>
            <a:off x="814917" y="2636838"/>
            <a:ext cx="10566400" cy="3979862"/>
          </a:xfrm>
          <a:prstGeom prst="rect">
            <a:avLst/>
          </a:prstGeom>
          <a:noFill/>
          <a:ln>
            <a:miter lim="800000"/>
          </a:ln>
        </p:spPr>
        <p:txBody>
          <a:bodyPr vert="horz" wrap="square" lIns="91440" tIns="45720" rIns="91440" bIns="45720" numCol="1" anchor="t" anchorCtr="0" compatLnSpc="1"/>
          <a:lstStyle>
            <a:lvl1pPr marL="287655" indent="-287655">
              <a:defRPr/>
            </a:lvl1pPr>
          </a:lstStyle>
          <a:p>
            <a:r>
              <a:rPr lang="zh-CN" altLang="en-US"/>
              <a:t>单击此处编辑母版副标题样式</a:t>
            </a:r>
          </a:p>
        </p:txBody>
      </p:sp>
      <p:pic>
        <p:nvPicPr>
          <p:cNvPr id="9" name="Picture 2"/>
          <p:cNvPicPr preferRelativeResize="0">
            <a:picLocks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939" y="0"/>
            <a:ext cx="1217485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Only">
  <p:cSld name="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09600" y="633413"/>
            <a:ext cx="10972800" cy="549275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7" name="日期占位符 2"/>
          <p:cNvSpPr>
            <a:spLocks noGrp="1"/>
          </p:cNvSpPr>
          <p:nvPr>
            <p:ph type="dt" sz="half" idx="2"/>
          </p:nvPr>
        </p:nvSpPr>
        <p:spPr>
          <a:xfrm>
            <a:off x="590551" y="6302375"/>
            <a:ext cx="2844800"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10/7/2010</a:t>
            </a:r>
          </a:p>
        </p:txBody>
      </p:sp>
      <p:sp>
        <p:nvSpPr>
          <p:cNvPr id="18" name="页脚占位符 3"/>
          <p:cNvSpPr>
            <a:spLocks noGrp="1"/>
          </p:cNvSpPr>
          <p:nvPr>
            <p:ph type="ftr" sz="quarter" idx="3"/>
          </p:nvPr>
        </p:nvSpPr>
        <p:spPr>
          <a:xfrm>
            <a:off x="4546600" y="6316663"/>
            <a:ext cx="3860800"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灯片编号占位符 4"/>
          <p:cNvSpPr>
            <a:spLocks noGrp="1"/>
          </p:cNvSpPr>
          <p:nvPr>
            <p:ph type="sldNum" sz="quarter" idx="4"/>
          </p:nvPr>
        </p:nvSpPr>
        <p:spPr>
          <a:xfrm>
            <a:off x="8489951" y="6302375"/>
            <a:ext cx="2844800" cy="476250"/>
          </a:xfrm>
          <a:prstGeom prst="rect">
            <a:avLst/>
          </a:prstGeom>
        </p:spPr>
        <p:txBody>
          <a:bodyPr/>
          <a:lstStyle/>
          <a:p>
            <a:pPr lvl="0"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9" name="Picture 2"/>
          <p:cNvPicPr preferRelativeResize="0">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39" y="0"/>
            <a:ext cx="1217485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
          <p:cNvSpPr>
            <a:spLocks noGrp="1"/>
          </p:cNvSpPr>
          <p:nvPr>
            <p:ph type="title"/>
          </p:nvPr>
        </p:nvSpPr>
        <p:spPr>
          <a:xfrm>
            <a:off x="550676" y="8620"/>
            <a:ext cx="10910917" cy="707886"/>
          </a:xfrm>
          <a:prstGeom prst="rect">
            <a:avLst/>
          </a:prstGeom>
          <a:noFill/>
          <a:ln>
            <a:noFill/>
          </a:ln>
        </p:spPr>
        <p:txBody>
          <a:bodyPr wrap="square">
            <a:spAutoFit/>
          </a:bodyPr>
          <a:lstStyle>
            <a:lvl1pPr marL="0" algn="l" hangingPunct="0">
              <a:defRPr sz="4000" b="1">
                <a:solidFill>
                  <a:schemeClr val="bg1"/>
                </a:solidFill>
                <a:effectLst/>
                <a:latin typeface="+mn-ea"/>
                <a:ea typeface="+mn-ea"/>
              </a:defRPr>
            </a:lvl1pPr>
          </a:lstStyle>
          <a:p>
            <a:r>
              <a:rPr lang="zh-CN" altLang="en-US" dirty="0"/>
              <a:t>单击此处编辑母版标题样式</a:t>
            </a:r>
          </a:p>
        </p:txBody>
      </p:sp>
      <p:sp>
        <p:nvSpPr>
          <p:cNvPr id="12" name="内容占位符 2"/>
          <p:cNvSpPr>
            <a:spLocks noGrp="1"/>
          </p:cNvSpPr>
          <p:nvPr>
            <p:ph idx="1"/>
          </p:nvPr>
        </p:nvSpPr>
        <p:spPr>
          <a:xfrm>
            <a:off x="539834" y="1125538"/>
            <a:ext cx="10921759" cy="5040312"/>
          </a:xfrm>
          <a:prstGeom prst="rect">
            <a:avLst/>
          </a:prstGeom>
        </p:spPr>
        <p:txBody>
          <a:bodyPr/>
          <a:lstStyle>
            <a:lvl1pPr marL="342900" indent="-342900">
              <a:buFont typeface="Wingdings" panose="05000000000000000000" pitchFamily="2" charset="2"/>
              <a:buChar char=""/>
              <a:defRPr b="1">
                <a:solidFill>
                  <a:srgbClr val="002060"/>
                </a:solidFill>
              </a:defRPr>
            </a:lvl1pPr>
            <a:lvl2pPr marL="742950" marR="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defRPr>
                <a:solidFill>
                  <a:srgbClr val="002060"/>
                </a:solidFill>
              </a:defRPr>
            </a:lvl2pPr>
            <a:lvl3pPr marL="1143000" indent="-228600">
              <a:buFont typeface="Wingdings" panose="05000000000000000000" pitchFamily="2" charset="2"/>
              <a:buChar char="p"/>
              <a:defRPr>
                <a:solidFill>
                  <a:srgbClr val="002060"/>
                </a:solidFill>
              </a:defRPr>
            </a:lvl3pPr>
            <a:lvl4pPr marL="1600200" indent="-228600">
              <a:buFont typeface="Wingdings" panose="05000000000000000000" pitchFamily="2" charset="2"/>
              <a:buChar char="n"/>
              <a:defRPr>
                <a:solidFill>
                  <a:srgbClr val="002060"/>
                </a:solidFill>
              </a:defRPr>
            </a:lvl4pPr>
            <a:lvl5pPr marL="1828800" indent="0">
              <a:buFont typeface="Wingdings" panose="05000000000000000000" pitchFamily="2" charset="2"/>
              <a:buNone/>
              <a:defRPr/>
            </a:lvl5pPr>
          </a:lstStyle>
          <a:p>
            <a:pPr lvl="0"/>
            <a:r>
              <a:rPr lang="zh-CN" altLang="en-US" dirty="0"/>
              <a:t>单击此处编辑母版文本样式</a:t>
            </a:r>
          </a:p>
          <a:p>
            <a:pPr lvl="1"/>
            <a:r>
              <a:rPr lang="zh-CN" altLang="en-US" dirty="0"/>
              <a:t>第二级单击此处编辑</a:t>
            </a:r>
          </a:p>
          <a:p>
            <a:pPr lvl="2"/>
            <a:r>
              <a:rPr lang="zh-CN" altLang="en-US" dirty="0"/>
              <a:t>第三级</a:t>
            </a:r>
          </a:p>
          <a:p>
            <a:pPr lvl="3"/>
            <a:r>
              <a:rPr lang="zh-CN" altLang="en-US" dirty="0"/>
              <a:t>第四级</a:t>
            </a:r>
          </a:p>
        </p:txBody>
      </p:sp>
    </p:spTree>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Rectangle 18"/>
          <p:cNvSpPr>
            <a:spLocks noChangeArrowheads="1"/>
          </p:cNvSpPr>
          <p:nvPr/>
        </p:nvSpPr>
        <p:spPr bwMode="auto">
          <a:xfrm>
            <a:off x="711200" y="1196975"/>
            <a:ext cx="10363200" cy="860425"/>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单击此处编辑母版标题样式</a:t>
            </a:r>
          </a:p>
        </p:txBody>
      </p:sp>
      <p:sp>
        <p:nvSpPr>
          <p:cNvPr id="17" name="Rectangle 19"/>
          <p:cNvSpPr>
            <a:spLocks noChangeArrowheads="1"/>
          </p:cNvSpPr>
          <p:nvPr/>
        </p:nvSpPr>
        <p:spPr bwMode="auto">
          <a:xfrm>
            <a:off x="814917" y="2420938"/>
            <a:ext cx="10566400" cy="4267200"/>
          </a:xfrm>
          <a:prstGeom prst="rect">
            <a:avLst/>
          </a:prstGeom>
          <a:noFill/>
          <a:ln w="9525">
            <a:noFill/>
            <a:miter lim="800000"/>
          </a:ln>
          <a:effectLst/>
        </p:spPr>
        <p:txBody>
          <a:bodyPr/>
          <a:lstStyle/>
          <a:p>
            <a:pPr marL="287655" marR="0" lvl="0" indent="-287655"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单击此处编辑母版副标题样式</a:t>
            </a:r>
          </a:p>
        </p:txBody>
      </p:sp>
      <p:pic>
        <p:nvPicPr>
          <p:cNvPr id="6148" name="Picture 20"/>
          <p:cNvPicPr>
            <a:picLocks noChangeAspect="1"/>
          </p:cNvPicPr>
          <p:nvPr userDrawn="1"/>
        </p:nvPicPr>
        <p:blipFill>
          <a:blip r:embed="rId3"/>
          <a:stretch>
            <a:fillRect/>
          </a:stretch>
        </p:blipFill>
        <p:spPr>
          <a:xfrm>
            <a:off x="0" y="0"/>
            <a:ext cx="12192000" cy="6823075"/>
          </a:xfrm>
          <a:prstGeom prst="rect">
            <a:avLst/>
          </a:prstGeom>
          <a:noFill/>
          <a:ln w="9525">
            <a:noFill/>
          </a:ln>
        </p:spPr>
      </p:pic>
      <p:pic>
        <p:nvPicPr>
          <p:cNvPr id="6149" name="Picture 21"/>
          <p:cNvPicPr>
            <a:picLocks noChangeAspect="1"/>
          </p:cNvPicPr>
          <p:nvPr userDrawn="1"/>
        </p:nvPicPr>
        <p:blipFill>
          <a:blip r:embed="rId3"/>
          <a:stretch>
            <a:fillRect/>
          </a:stretch>
        </p:blipFill>
        <p:spPr>
          <a:xfrm>
            <a:off x="0" y="0"/>
            <a:ext cx="12192000" cy="6823075"/>
          </a:xfrm>
          <a:prstGeom prst="rect">
            <a:avLst/>
          </a:prstGeom>
          <a:noFill/>
          <a:ln w="9525">
            <a:noFill/>
          </a:ln>
        </p:spPr>
      </p:pic>
      <p:sp>
        <p:nvSpPr>
          <p:cNvPr id="20" name="Rectangle 22" descr="a1"/>
          <p:cNvSpPr>
            <a:spLocks noChangeArrowheads="1"/>
          </p:cNvSpPr>
          <p:nvPr/>
        </p:nvSpPr>
        <p:spPr bwMode="gray">
          <a:xfrm>
            <a:off x="0" y="0"/>
            <a:ext cx="3048000" cy="838200"/>
          </a:xfrm>
          <a:prstGeom prst="rect">
            <a:avLst/>
          </a:prstGeom>
          <a:blipFill dpi="0" rotWithShape="1">
            <a:blip r:embed="rId4"/>
            <a:srcRect/>
            <a:stretch>
              <a:fillRect/>
            </a:stretch>
          </a:blip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23"/>
          <p:cNvSpPr>
            <a:spLocks noChangeArrowheads="1"/>
          </p:cNvSpPr>
          <p:nvPr/>
        </p:nvSpPr>
        <p:spPr bwMode="gray">
          <a:xfrm>
            <a:off x="3048000" y="0"/>
            <a:ext cx="2946400" cy="838200"/>
          </a:xfrm>
          <a:prstGeom prst="rect">
            <a:avLst/>
          </a:prstGeom>
          <a:solidFill>
            <a:srgbClr val="3366CC"/>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24"/>
          <p:cNvSpPr>
            <a:spLocks noChangeArrowheads="1"/>
          </p:cNvSpPr>
          <p:nvPr/>
        </p:nvSpPr>
        <p:spPr bwMode="gray">
          <a:xfrm>
            <a:off x="5994400" y="0"/>
            <a:ext cx="2857500" cy="838200"/>
          </a:xfrm>
          <a:prstGeom prst="rect">
            <a:avLst/>
          </a:prstGeom>
          <a:solidFill>
            <a:srgbClr val="33CCFF"/>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25"/>
          <p:cNvSpPr>
            <a:spLocks noChangeArrowheads="1"/>
          </p:cNvSpPr>
          <p:nvPr/>
        </p:nvSpPr>
        <p:spPr bwMode="gray">
          <a:xfrm>
            <a:off x="0" y="692150"/>
            <a:ext cx="12192000" cy="36513"/>
          </a:xfrm>
          <a:prstGeom prst="rect">
            <a:avLst/>
          </a:prstGeom>
          <a:solidFill>
            <a:srgbClr val="003399"/>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26"/>
          <p:cNvSpPr>
            <a:spLocks noChangeArrowheads="1"/>
          </p:cNvSpPr>
          <p:nvPr/>
        </p:nvSpPr>
        <p:spPr bwMode="gray">
          <a:xfrm>
            <a:off x="0" y="692150"/>
            <a:ext cx="12192000" cy="144463"/>
          </a:xfrm>
          <a:prstGeom prst="rect">
            <a:avLst/>
          </a:prstGeom>
          <a:solidFill>
            <a:srgbClr val="003399"/>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Text Box 27"/>
          <p:cNvSpPr txBox="1">
            <a:spLocks noChangeArrowheads="1"/>
          </p:cNvSpPr>
          <p:nvPr/>
        </p:nvSpPr>
        <p:spPr bwMode="auto">
          <a:xfrm>
            <a:off x="3503084" y="115888"/>
            <a:ext cx="5666317" cy="953135"/>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Software    Engineering</a:t>
            </a:r>
            <a:endParaRPr kumimoji="0" lang="zh-CN" altLang="en-US" sz="2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2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6156" name="Picture 28"/>
          <p:cNvPicPr>
            <a:picLocks noChangeAspect="1"/>
          </p:cNvPicPr>
          <p:nvPr userDrawn="1"/>
        </p:nvPicPr>
        <p:blipFill>
          <a:blip r:embed="rId5"/>
          <a:stretch>
            <a:fillRect/>
          </a:stretch>
        </p:blipFill>
        <p:spPr>
          <a:xfrm>
            <a:off x="8839200" y="0"/>
            <a:ext cx="3352800" cy="685800"/>
          </a:xfrm>
          <a:prstGeom prst="rect">
            <a:avLst/>
          </a:prstGeom>
          <a:noFill/>
          <a:ln w="9525">
            <a:noFill/>
          </a:ln>
        </p:spPr>
      </p:pic>
      <p:sp>
        <p:nvSpPr>
          <p:cNvPr id="27" name="Rectangle 29"/>
          <p:cNvSpPr>
            <a:spLocks noChangeArrowheads="1"/>
          </p:cNvSpPr>
          <p:nvPr/>
        </p:nvSpPr>
        <p:spPr bwMode="auto">
          <a:xfrm>
            <a:off x="10703984" y="6381750"/>
            <a:ext cx="575733" cy="279400"/>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32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28" name="Rectangle 31"/>
          <p:cNvSpPr>
            <a:spLocks noChangeArrowheads="1"/>
          </p:cNvSpPr>
          <p:nvPr/>
        </p:nvSpPr>
        <p:spPr bwMode="auto">
          <a:xfrm>
            <a:off x="11279717" y="6553200"/>
            <a:ext cx="271780" cy="306705"/>
          </a:xfrm>
          <a:prstGeom prst="rect">
            <a:avLst/>
          </a:prstGeom>
          <a:noFill/>
          <a:ln w="9525">
            <a:noFill/>
            <a:miter lim="800000"/>
          </a:ln>
          <a:effectLst/>
        </p:spPr>
        <p:txBody>
          <a:bodyPr wrap="none">
            <a:spAutoFit/>
          </a:bodyPr>
          <a:lstStyle/>
          <a:p>
            <a:pPr lvl="0" eaLnBrk="1" hangingPunct="1">
              <a:buNone/>
            </a:pPr>
            <a:fld id="{9A0DB2DC-4C9A-4742-B13C-FB6460FD3503}" type="slidenum">
              <a:rPr lang="en-US" altLang="zh-CN" sz="1400" dirty="0">
                <a:solidFill>
                  <a:srgbClr val="003399"/>
                </a:solidFill>
                <a:latin typeface="Times New Roman" panose="02020603050405020304" pitchFamily="18" charset="0"/>
              </a:rPr>
              <a:t>‹#›</a:t>
            </a:fld>
            <a:endParaRPr lang="en-US" altLang="zh-CN" sz="1400" dirty="0">
              <a:solidFill>
                <a:srgbClr val="003399"/>
              </a:solidFill>
              <a:latin typeface="Times New Roman" panose="02020603050405020304" pitchFamily="18" charset="0"/>
            </a:endParaRPr>
          </a:p>
        </p:txBody>
      </p:sp>
      <p:sp>
        <p:nvSpPr>
          <p:cNvPr id="7170" name="Rectangle 2"/>
          <p:cNvSpPr>
            <a:spLocks noGrp="1" noChangeArrowheads="1"/>
          </p:cNvSpPr>
          <p:nvPr>
            <p:ph type="ctrTitle"/>
          </p:nvPr>
        </p:nvSpPr>
        <p:spPr bwMode="auto">
          <a:xfrm>
            <a:off x="624417" y="1341438"/>
            <a:ext cx="10363200" cy="709612"/>
          </a:xfrm>
          <a:prstGeom prst="rect">
            <a:avLst/>
          </a:prstGeom>
          <a:noFill/>
          <a:ln>
            <a:miter lim="800000"/>
          </a:ln>
        </p:spPr>
        <p:txBody>
          <a:bodyPr vert="horz" wrap="square" lIns="91440" tIns="45720" rIns="91440" bIns="45720" numCol="1" anchor="ctr" anchorCtr="0" compatLnSpc="1"/>
          <a:lstStyle>
            <a:lvl1pPr>
              <a:defRPr>
                <a:solidFill>
                  <a:schemeClr val="accent2"/>
                </a:solidFill>
              </a:defRPr>
            </a:lvl1pPr>
          </a:lstStyle>
          <a:p>
            <a:r>
              <a:rPr lang="zh-CN" altLang="en-US"/>
              <a:t>单击此处编辑母版标题样式</a:t>
            </a:r>
          </a:p>
        </p:txBody>
      </p:sp>
      <p:sp>
        <p:nvSpPr>
          <p:cNvPr id="7171" name="Rectangle 3"/>
          <p:cNvSpPr>
            <a:spLocks noGrp="1" noChangeArrowheads="1"/>
          </p:cNvSpPr>
          <p:nvPr>
            <p:ph type="subTitle" idx="1"/>
          </p:nvPr>
        </p:nvSpPr>
        <p:spPr bwMode="auto">
          <a:xfrm>
            <a:off x="814917" y="2636838"/>
            <a:ext cx="10566400" cy="3979862"/>
          </a:xfrm>
          <a:prstGeom prst="rect">
            <a:avLst/>
          </a:prstGeom>
          <a:noFill/>
          <a:ln>
            <a:miter lim="800000"/>
          </a:ln>
        </p:spPr>
        <p:txBody>
          <a:bodyPr vert="horz" wrap="square" lIns="91440" tIns="45720" rIns="91440" bIns="45720" numCol="1" anchor="t" anchorCtr="0" compatLnSpc="1"/>
          <a:lstStyle>
            <a:lvl1pPr marL="287655" indent="-287655">
              <a:defRPr/>
            </a:lvl1pPr>
          </a:lstStyle>
          <a:p>
            <a:r>
              <a:rPr lang="zh-CN" altLang="en-US"/>
              <a:t>单击此处编辑母版副标题样式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0"/>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0"/>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5384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4.png"/><Relationship Id="rId2" Type="http://schemas.openxmlformats.org/officeDocument/2006/relationships/slideLayout" Target="../slideLayouts/slideLayout16.xml"/><Relationship Id="rId16" Type="http://schemas.openxmlformats.org/officeDocument/2006/relationships/image" Target="../media/image3.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2.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6"/>
          <a:stretch>
            <a:fillRect/>
          </a:stretch>
        </a:blip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auto">
          <a:xfrm>
            <a:off x="1295400" y="1268413"/>
            <a:ext cx="10363200" cy="1143000"/>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单击此处编辑母版标题样式</a:t>
            </a:r>
          </a:p>
        </p:txBody>
      </p:sp>
      <p:sp>
        <p:nvSpPr>
          <p:cNvPr id="6147" name="Rectangle 3"/>
          <p:cNvSpPr>
            <a:spLocks noChangeArrowheads="1"/>
          </p:cNvSpPr>
          <p:nvPr/>
        </p:nvSpPr>
        <p:spPr bwMode="auto">
          <a:xfrm>
            <a:off x="609600" y="2514600"/>
            <a:ext cx="10972800" cy="1752600"/>
          </a:xfrm>
          <a:prstGeom prst="rect">
            <a:avLst/>
          </a:prstGeom>
          <a:noFill/>
          <a:ln w="9525">
            <a:noFill/>
            <a:miter lim="800000"/>
          </a:ln>
          <a:effectLst/>
        </p:spPr>
        <p:txBody>
          <a:bodyPr/>
          <a:lstStyle/>
          <a:p>
            <a:pPr marL="287655" marR="0" lvl="0" indent="-287655"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单击此处编辑母版副标题样式</a:t>
            </a:r>
          </a:p>
        </p:txBody>
      </p:sp>
      <p:sp>
        <p:nvSpPr>
          <p:cNvPr id="6179" name="Rectangle 35"/>
          <p:cNvSpPr>
            <a:spLocks noChangeArrowheads="1"/>
          </p:cNvSpPr>
          <p:nvPr/>
        </p:nvSpPr>
        <p:spPr bwMode="auto">
          <a:xfrm>
            <a:off x="711200" y="1196975"/>
            <a:ext cx="10363200" cy="860425"/>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单击此处编辑母版标题样式</a:t>
            </a:r>
          </a:p>
        </p:txBody>
      </p:sp>
      <p:sp>
        <p:nvSpPr>
          <p:cNvPr id="6180" name="Rectangle 36"/>
          <p:cNvSpPr>
            <a:spLocks noChangeArrowheads="1"/>
          </p:cNvSpPr>
          <p:nvPr/>
        </p:nvSpPr>
        <p:spPr bwMode="auto">
          <a:xfrm>
            <a:off x="814917" y="2420938"/>
            <a:ext cx="10566400" cy="4267200"/>
          </a:xfrm>
          <a:prstGeom prst="rect">
            <a:avLst/>
          </a:prstGeom>
          <a:noFill/>
          <a:ln w="9525">
            <a:noFill/>
            <a:miter lim="800000"/>
          </a:ln>
          <a:effectLst/>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单击此处编辑母版副标题样式</a:t>
            </a:r>
          </a:p>
        </p:txBody>
      </p:sp>
      <p:pic>
        <p:nvPicPr>
          <p:cNvPr id="5126" name="Picture 37"/>
          <p:cNvPicPr>
            <a:picLocks noChangeAspect="1"/>
          </p:cNvPicPr>
          <p:nvPr userDrawn="1"/>
        </p:nvPicPr>
        <p:blipFill>
          <a:blip r:embed="rId17"/>
          <a:stretch>
            <a:fillRect/>
          </a:stretch>
        </p:blipFill>
        <p:spPr>
          <a:xfrm>
            <a:off x="0" y="0"/>
            <a:ext cx="12192000" cy="6823075"/>
          </a:xfrm>
          <a:prstGeom prst="rect">
            <a:avLst/>
          </a:prstGeom>
          <a:noFill/>
          <a:ln w="9525">
            <a:noFill/>
          </a:ln>
        </p:spPr>
      </p:pic>
      <p:pic>
        <p:nvPicPr>
          <p:cNvPr id="5127" name="Picture 38"/>
          <p:cNvPicPr>
            <a:picLocks noChangeAspect="1"/>
          </p:cNvPicPr>
          <p:nvPr userDrawn="1"/>
        </p:nvPicPr>
        <p:blipFill>
          <a:blip r:embed="rId17"/>
          <a:stretch>
            <a:fillRect/>
          </a:stretch>
        </p:blipFill>
        <p:spPr>
          <a:xfrm>
            <a:off x="0" y="0"/>
            <a:ext cx="12192000" cy="6823075"/>
          </a:xfrm>
          <a:prstGeom prst="rect">
            <a:avLst/>
          </a:prstGeom>
          <a:noFill/>
          <a:ln w="9525">
            <a:noFill/>
          </a:ln>
        </p:spPr>
      </p:pic>
      <p:sp>
        <p:nvSpPr>
          <p:cNvPr id="6183" name="Rectangle 39" descr="a1"/>
          <p:cNvSpPr>
            <a:spLocks noChangeArrowheads="1"/>
          </p:cNvSpPr>
          <p:nvPr/>
        </p:nvSpPr>
        <p:spPr bwMode="gray">
          <a:xfrm>
            <a:off x="0" y="0"/>
            <a:ext cx="3048000" cy="2708275"/>
          </a:xfrm>
          <a:prstGeom prst="rect">
            <a:avLst/>
          </a:prstGeom>
          <a:blipFill dpi="0" rotWithShape="1">
            <a:blip r:embed="rId18"/>
            <a:srcRect/>
            <a:stretch>
              <a:fillRect/>
            </a:stretch>
          </a:blip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4" name="Rectangle 40"/>
          <p:cNvSpPr>
            <a:spLocks noChangeArrowheads="1"/>
          </p:cNvSpPr>
          <p:nvPr/>
        </p:nvSpPr>
        <p:spPr bwMode="gray">
          <a:xfrm>
            <a:off x="3048000" y="0"/>
            <a:ext cx="2946400" cy="2708275"/>
          </a:xfrm>
          <a:prstGeom prst="rect">
            <a:avLst/>
          </a:prstGeom>
          <a:solidFill>
            <a:srgbClr val="3366CC"/>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5" name="Rectangle 41"/>
          <p:cNvSpPr>
            <a:spLocks noChangeArrowheads="1"/>
          </p:cNvSpPr>
          <p:nvPr/>
        </p:nvSpPr>
        <p:spPr bwMode="gray">
          <a:xfrm>
            <a:off x="5994400" y="0"/>
            <a:ext cx="2857500" cy="2708275"/>
          </a:xfrm>
          <a:prstGeom prst="rect">
            <a:avLst/>
          </a:prstGeom>
          <a:solidFill>
            <a:srgbClr val="33CCFF"/>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7" name="Rectangle 43"/>
          <p:cNvSpPr>
            <a:spLocks noChangeArrowheads="1"/>
          </p:cNvSpPr>
          <p:nvPr/>
        </p:nvSpPr>
        <p:spPr bwMode="gray">
          <a:xfrm>
            <a:off x="0" y="2708275"/>
            <a:ext cx="12192000" cy="1296988"/>
          </a:xfrm>
          <a:prstGeom prst="rect">
            <a:avLst/>
          </a:prstGeom>
          <a:solidFill>
            <a:srgbClr val="003399"/>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8" name="Text Box 44"/>
          <p:cNvSpPr txBox="1">
            <a:spLocks noChangeArrowheads="1"/>
          </p:cNvSpPr>
          <p:nvPr/>
        </p:nvSpPr>
        <p:spPr bwMode="auto">
          <a:xfrm>
            <a:off x="3312584" y="549275"/>
            <a:ext cx="5666317" cy="2122805"/>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Software    Engineering</a:t>
            </a:r>
            <a:endParaRPr kumimoji="0" lang="zh-CN" altLang="en-US" sz="4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5133" name="Picture 45"/>
          <p:cNvPicPr>
            <a:picLocks noChangeAspect="1"/>
          </p:cNvPicPr>
          <p:nvPr userDrawn="1"/>
        </p:nvPicPr>
        <p:blipFill>
          <a:blip r:embed="rId19"/>
          <a:stretch>
            <a:fillRect/>
          </a:stretch>
        </p:blipFill>
        <p:spPr>
          <a:xfrm>
            <a:off x="8839200" y="0"/>
            <a:ext cx="3352800" cy="2708275"/>
          </a:xfrm>
          <a:prstGeom prst="rect">
            <a:avLst/>
          </a:prstGeom>
          <a:noFill/>
          <a:ln w="9525">
            <a:noFill/>
          </a:ln>
        </p:spPr>
      </p:pic>
      <p:sp>
        <p:nvSpPr>
          <p:cNvPr id="6190" name="Rectangle 46"/>
          <p:cNvSpPr>
            <a:spLocks noChangeArrowheads="1"/>
          </p:cNvSpPr>
          <p:nvPr/>
        </p:nvSpPr>
        <p:spPr bwMode="auto">
          <a:xfrm>
            <a:off x="10703984" y="6381750"/>
            <a:ext cx="575733" cy="279400"/>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32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endParaRPr>
          </a:p>
        </p:txBody>
      </p:sp>
      <p:sp>
        <p:nvSpPr>
          <p:cNvPr id="6192" name="Rectangle 48"/>
          <p:cNvSpPr>
            <a:spLocks noChangeArrowheads="1"/>
          </p:cNvSpPr>
          <p:nvPr/>
        </p:nvSpPr>
        <p:spPr bwMode="auto">
          <a:xfrm>
            <a:off x="11279717" y="6553200"/>
            <a:ext cx="271780" cy="306705"/>
          </a:xfrm>
          <a:prstGeom prst="rect">
            <a:avLst/>
          </a:prstGeom>
          <a:noFill/>
          <a:ln w="9525">
            <a:noFill/>
            <a:miter lim="800000"/>
          </a:ln>
          <a:effectLst/>
        </p:spPr>
        <p:txBody>
          <a:bodyPr wrap="none">
            <a:spAutoFit/>
          </a:bodyPr>
          <a:lstStyle/>
          <a:p>
            <a:pPr lvl="0" eaLnBrk="1" hangingPunct="1">
              <a:buNone/>
            </a:pPr>
            <a:fld id="{9A0DB2DC-4C9A-4742-B13C-FB6460FD3503}" type="slidenum">
              <a:rPr lang="en-US" altLang="zh-CN" sz="1400" dirty="0">
                <a:solidFill>
                  <a:srgbClr val="003399"/>
                </a:solidFill>
                <a:latin typeface="Times New Roman" panose="02020603050405020304" pitchFamily="18" charset="0"/>
              </a:rPr>
              <a:t>‹#›</a:t>
            </a:fld>
            <a:endParaRPr lang="en-US" altLang="zh-CN" sz="1400" dirty="0">
              <a:solidFill>
                <a:srgbClr val="003399"/>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3200" b="1">
          <a:solidFill>
            <a:srgbClr val="800000"/>
          </a:solidFill>
          <a:latin typeface="+mj-lt"/>
          <a:ea typeface="+mj-ea"/>
          <a:cs typeface="+mj-cs"/>
        </a:defRPr>
      </a:lvl1pPr>
      <a:lvl2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800" b="1">
          <a:solidFill>
            <a:schemeClr val="tx1"/>
          </a:solidFill>
          <a:latin typeface="+mn-lt"/>
          <a:ea typeface="+mn-ea"/>
        </a:defRPr>
      </a:lvl3pPr>
      <a:lvl4pPr marL="1600200" indent="-228600" algn="l" rtl="0" eaLnBrk="0" fontAlgn="base" hangingPunct="0">
        <a:spcBef>
          <a:spcPct val="20000"/>
        </a:spcBef>
        <a:spcAft>
          <a:spcPct val="0"/>
        </a:spcAft>
        <a:buChar char="–"/>
        <a:defRPr sz="2800" b="1">
          <a:solidFill>
            <a:schemeClr val="tx1"/>
          </a:solidFill>
          <a:latin typeface="+mn-lt"/>
          <a:ea typeface="+mn-ea"/>
        </a:defRPr>
      </a:lvl4pPr>
      <a:lvl5pPr marL="2057400" indent="-228600" algn="l" rtl="0" eaLnBrk="0" fontAlgn="base" hangingPunct="0">
        <a:spcBef>
          <a:spcPct val="20000"/>
        </a:spcBef>
        <a:spcAft>
          <a:spcPct val="0"/>
        </a:spcAft>
        <a:buChar char="»"/>
        <a:defRPr sz="2800" b="1">
          <a:solidFill>
            <a:schemeClr val="tx1"/>
          </a:solidFill>
          <a:latin typeface="+mn-lt"/>
          <a:ea typeface="+mn-ea"/>
        </a:defRPr>
      </a:lvl5pPr>
      <a:lvl6pPr marL="2514600" indent="-228600" algn="l" rtl="0" fontAlgn="base">
        <a:spcBef>
          <a:spcPct val="20000"/>
        </a:spcBef>
        <a:spcAft>
          <a:spcPct val="0"/>
        </a:spcAft>
        <a:buChar char="»"/>
        <a:defRPr sz="2800" b="1">
          <a:solidFill>
            <a:schemeClr val="tx1"/>
          </a:solidFill>
          <a:latin typeface="+mn-lt"/>
          <a:ea typeface="+mn-ea"/>
        </a:defRPr>
      </a:lvl6pPr>
      <a:lvl7pPr marL="2971800" indent="-228600" algn="l" rtl="0" fontAlgn="base">
        <a:spcBef>
          <a:spcPct val="20000"/>
        </a:spcBef>
        <a:spcAft>
          <a:spcPct val="0"/>
        </a:spcAft>
        <a:buChar char="»"/>
        <a:defRPr sz="2800" b="1">
          <a:solidFill>
            <a:schemeClr val="tx1"/>
          </a:solidFill>
          <a:latin typeface="+mn-lt"/>
          <a:ea typeface="+mn-ea"/>
        </a:defRPr>
      </a:lvl7pPr>
      <a:lvl8pPr marL="3429000" indent="-228600" algn="l" rtl="0" fontAlgn="base">
        <a:spcBef>
          <a:spcPct val="20000"/>
        </a:spcBef>
        <a:spcAft>
          <a:spcPct val="0"/>
        </a:spcAft>
        <a:buChar char="»"/>
        <a:defRPr sz="2800" b="1">
          <a:solidFill>
            <a:schemeClr val="tx1"/>
          </a:solidFill>
          <a:latin typeface="+mn-lt"/>
          <a:ea typeface="+mn-ea"/>
        </a:defRPr>
      </a:lvl8pPr>
      <a:lvl9pPr marL="3886200" indent="-228600" algn="l" rtl="0" fontAlgn="base">
        <a:spcBef>
          <a:spcPct val="20000"/>
        </a:spcBef>
        <a:spcAft>
          <a:spcPct val="0"/>
        </a:spcAft>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auto">
          <a:xfrm>
            <a:off x="1295400" y="1268413"/>
            <a:ext cx="10363200" cy="1143000"/>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单击此处编辑母版标题样式</a:t>
            </a:r>
          </a:p>
        </p:txBody>
      </p:sp>
      <p:sp>
        <p:nvSpPr>
          <p:cNvPr id="6147" name="Rectangle 3"/>
          <p:cNvSpPr>
            <a:spLocks noChangeArrowheads="1"/>
          </p:cNvSpPr>
          <p:nvPr/>
        </p:nvSpPr>
        <p:spPr bwMode="auto">
          <a:xfrm>
            <a:off x="609600" y="2514600"/>
            <a:ext cx="10972800" cy="1752600"/>
          </a:xfrm>
          <a:prstGeom prst="rect">
            <a:avLst/>
          </a:prstGeom>
          <a:noFill/>
          <a:ln w="9525">
            <a:noFill/>
            <a:miter lim="800000"/>
          </a:ln>
          <a:effectLst/>
        </p:spPr>
        <p:txBody>
          <a:bodyPr/>
          <a:lstStyle/>
          <a:p>
            <a:pPr marL="287655" marR="0" lvl="0" indent="-287655"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单击此处编辑母版副标题样式</a:t>
            </a:r>
          </a:p>
        </p:txBody>
      </p:sp>
      <p:sp>
        <p:nvSpPr>
          <p:cNvPr id="6179" name="Rectangle 35"/>
          <p:cNvSpPr>
            <a:spLocks noChangeArrowheads="1"/>
          </p:cNvSpPr>
          <p:nvPr/>
        </p:nvSpPr>
        <p:spPr bwMode="auto">
          <a:xfrm>
            <a:off x="711200" y="1196975"/>
            <a:ext cx="10363200" cy="860425"/>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rPr>
              <a:t>单击此处编辑母版标题样式</a:t>
            </a:r>
          </a:p>
        </p:txBody>
      </p:sp>
      <p:sp>
        <p:nvSpPr>
          <p:cNvPr id="6180" name="Rectangle 36"/>
          <p:cNvSpPr>
            <a:spLocks noChangeArrowheads="1"/>
          </p:cNvSpPr>
          <p:nvPr/>
        </p:nvSpPr>
        <p:spPr bwMode="auto">
          <a:xfrm>
            <a:off x="814917" y="2420938"/>
            <a:ext cx="10566400" cy="4267200"/>
          </a:xfrm>
          <a:prstGeom prst="rect">
            <a:avLst/>
          </a:prstGeom>
          <a:noFill/>
          <a:ln w="9525">
            <a:noFill/>
            <a:miter lim="800000"/>
          </a:ln>
          <a:effectLst/>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单击此处编辑母版副标题样式</a:t>
            </a:r>
          </a:p>
        </p:txBody>
      </p:sp>
      <p:pic>
        <p:nvPicPr>
          <p:cNvPr id="5126" name="Picture 37"/>
          <p:cNvPicPr>
            <a:picLocks noChangeAspect="1"/>
          </p:cNvPicPr>
          <p:nvPr userDrawn="1"/>
        </p:nvPicPr>
        <p:blipFill>
          <a:blip r:embed="rId15"/>
          <a:stretch>
            <a:fillRect/>
          </a:stretch>
        </p:blipFill>
        <p:spPr>
          <a:xfrm>
            <a:off x="0" y="0"/>
            <a:ext cx="12192000" cy="6823075"/>
          </a:xfrm>
          <a:prstGeom prst="rect">
            <a:avLst/>
          </a:prstGeom>
          <a:noFill/>
          <a:ln w="9525">
            <a:noFill/>
          </a:ln>
        </p:spPr>
      </p:pic>
      <p:pic>
        <p:nvPicPr>
          <p:cNvPr id="5127" name="Picture 38"/>
          <p:cNvPicPr>
            <a:picLocks noChangeAspect="1"/>
          </p:cNvPicPr>
          <p:nvPr userDrawn="1"/>
        </p:nvPicPr>
        <p:blipFill>
          <a:blip r:embed="rId15"/>
          <a:stretch>
            <a:fillRect/>
          </a:stretch>
        </p:blipFill>
        <p:spPr>
          <a:xfrm>
            <a:off x="0" y="0"/>
            <a:ext cx="12192000" cy="6823075"/>
          </a:xfrm>
          <a:prstGeom prst="rect">
            <a:avLst/>
          </a:prstGeom>
          <a:noFill/>
          <a:ln w="9525">
            <a:noFill/>
          </a:ln>
        </p:spPr>
      </p:pic>
      <p:sp>
        <p:nvSpPr>
          <p:cNvPr id="6183" name="Rectangle 39" descr="a1"/>
          <p:cNvSpPr>
            <a:spLocks noChangeArrowheads="1"/>
          </p:cNvSpPr>
          <p:nvPr/>
        </p:nvSpPr>
        <p:spPr bwMode="gray">
          <a:xfrm>
            <a:off x="0" y="0"/>
            <a:ext cx="3048000" cy="2708275"/>
          </a:xfrm>
          <a:prstGeom prst="rect">
            <a:avLst/>
          </a:prstGeom>
          <a:blipFill dpi="0" rotWithShape="1">
            <a:blip r:embed="rId16"/>
            <a:srcRect/>
            <a:stretch>
              <a:fillRect/>
            </a:stretch>
          </a:blip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4" name="Rectangle 40"/>
          <p:cNvSpPr>
            <a:spLocks noChangeArrowheads="1"/>
          </p:cNvSpPr>
          <p:nvPr/>
        </p:nvSpPr>
        <p:spPr bwMode="gray">
          <a:xfrm>
            <a:off x="3048000" y="0"/>
            <a:ext cx="2946400" cy="2708275"/>
          </a:xfrm>
          <a:prstGeom prst="rect">
            <a:avLst/>
          </a:prstGeom>
          <a:solidFill>
            <a:srgbClr val="3366CC"/>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5" name="Rectangle 41"/>
          <p:cNvSpPr>
            <a:spLocks noChangeArrowheads="1"/>
          </p:cNvSpPr>
          <p:nvPr/>
        </p:nvSpPr>
        <p:spPr bwMode="gray">
          <a:xfrm>
            <a:off x="5994400" y="0"/>
            <a:ext cx="2857500" cy="2708275"/>
          </a:xfrm>
          <a:prstGeom prst="rect">
            <a:avLst/>
          </a:prstGeom>
          <a:solidFill>
            <a:srgbClr val="33CCFF"/>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7" name="Rectangle 43"/>
          <p:cNvSpPr>
            <a:spLocks noChangeArrowheads="1"/>
          </p:cNvSpPr>
          <p:nvPr/>
        </p:nvSpPr>
        <p:spPr bwMode="gray">
          <a:xfrm>
            <a:off x="0" y="2708275"/>
            <a:ext cx="12192000" cy="1296988"/>
          </a:xfrm>
          <a:prstGeom prst="rect">
            <a:avLst/>
          </a:prstGeom>
          <a:solidFill>
            <a:srgbClr val="003399"/>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88" name="Text Box 44"/>
          <p:cNvSpPr txBox="1">
            <a:spLocks noChangeArrowheads="1"/>
          </p:cNvSpPr>
          <p:nvPr/>
        </p:nvSpPr>
        <p:spPr bwMode="auto">
          <a:xfrm>
            <a:off x="3312584" y="549275"/>
            <a:ext cx="5666317" cy="2122805"/>
          </a:xfrm>
          <a:prstGeom prst="rect">
            <a:avLst/>
          </a:prstGeom>
          <a:noFill/>
          <a:ln w="9525">
            <a:noFill/>
            <a:miter lim="800000"/>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Software    Engineering</a:t>
            </a:r>
            <a:endParaRPr kumimoji="0" lang="zh-CN" altLang="en-US" sz="4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400" b="1" i="1"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5133" name="Picture 45"/>
          <p:cNvPicPr>
            <a:picLocks noChangeAspect="1"/>
          </p:cNvPicPr>
          <p:nvPr userDrawn="1"/>
        </p:nvPicPr>
        <p:blipFill>
          <a:blip r:embed="rId17"/>
          <a:stretch>
            <a:fillRect/>
          </a:stretch>
        </p:blipFill>
        <p:spPr>
          <a:xfrm>
            <a:off x="8839200" y="0"/>
            <a:ext cx="3352800" cy="2708275"/>
          </a:xfrm>
          <a:prstGeom prst="rect">
            <a:avLst/>
          </a:prstGeom>
          <a:noFill/>
          <a:ln w="9525">
            <a:noFill/>
          </a:ln>
        </p:spPr>
      </p:pic>
      <p:sp>
        <p:nvSpPr>
          <p:cNvPr id="6190" name="Rectangle 46"/>
          <p:cNvSpPr>
            <a:spLocks noChangeArrowheads="1"/>
          </p:cNvSpPr>
          <p:nvPr/>
        </p:nvSpPr>
        <p:spPr bwMode="auto">
          <a:xfrm>
            <a:off x="10703984" y="6381750"/>
            <a:ext cx="575733" cy="279400"/>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3200" b="1" i="0" u="none" strike="noStrike" kern="1200" cap="none" spc="0" normalizeH="0" baseline="0" noProof="0">
              <a:ln>
                <a:noFill/>
              </a:ln>
              <a:solidFill>
                <a:srgbClr val="800000"/>
              </a:solidFill>
              <a:effectLst/>
              <a:uLnTx/>
              <a:uFillTx/>
              <a:latin typeface="Times New Roman" panose="02020603050405020304" pitchFamily="18" charset="0"/>
              <a:ea typeface="宋体" panose="02010600030101010101" pitchFamily="2" charset="-122"/>
              <a:cs typeface="+mn-cs"/>
            </a:endParaRPr>
          </a:p>
        </p:txBody>
      </p:sp>
      <p:sp>
        <p:nvSpPr>
          <p:cNvPr id="6192" name="Rectangle 48"/>
          <p:cNvSpPr>
            <a:spLocks noChangeArrowheads="1"/>
          </p:cNvSpPr>
          <p:nvPr/>
        </p:nvSpPr>
        <p:spPr bwMode="auto">
          <a:xfrm>
            <a:off x="11279717" y="6553200"/>
            <a:ext cx="271780" cy="306705"/>
          </a:xfrm>
          <a:prstGeom prst="rect">
            <a:avLst/>
          </a:prstGeom>
          <a:noFill/>
          <a:ln w="9525">
            <a:noFill/>
            <a:miter lim="800000"/>
          </a:ln>
          <a:effectLst/>
        </p:spPr>
        <p:txBody>
          <a:bodyPr wrap="none">
            <a:spAutoFit/>
          </a:bodyPr>
          <a:lstStyle/>
          <a:p>
            <a:pPr lvl="0" eaLnBrk="1" hangingPunct="1">
              <a:buNone/>
            </a:pPr>
            <a:fld id="{9A0DB2DC-4C9A-4742-B13C-FB6460FD3503}" type="slidenum">
              <a:rPr lang="en-US" altLang="zh-CN" sz="1400" dirty="0">
                <a:solidFill>
                  <a:srgbClr val="003399"/>
                </a:solidFill>
                <a:latin typeface="Times New Roman" panose="02020603050405020304" pitchFamily="18" charset="0"/>
              </a:rPr>
              <a:t>‹#›</a:t>
            </a:fld>
            <a:endParaRPr lang="en-US" altLang="zh-CN" sz="1400" dirty="0">
              <a:solidFill>
                <a:srgbClr val="003399"/>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rtl="0" eaLnBrk="0" fontAlgn="base" hangingPunct="0">
        <a:spcBef>
          <a:spcPct val="0"/>
        </a:spcBef>
        <a:spcAft>
          <a:spcPct val="0"/>
        </a:spcAft>
        <a:defRPr sz="3200" b="1">
          <a:solidFill>
            <a:srgbClr val="800000"/>
          </a:solidFill>
          <a:latin typeface="+mj-lt"/>
          <a:ea typeface="+mj-ea"/>
          <a:cs typeface="+mj-cs"/>
        </a:defRPr>
      </a:lvl1pPr>
      <a:lvl2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3200" b="1">
          <a:solidFill>
            <a:srgbClr val="8000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800" b="1">
          <a:solidFill>
            <a:schemeClr val="tx1"/>
          </a:solidFill>
          <a:latin typeface="+mn-lt"/>
          <a:ea typeface="+mn-ea"/>
        </a:defRPr>
      </a:lvl3pPr>
      <a:lvl4pPr marL="1600200" indent="-228600" algn="l" rtl="0" eaLnBrk="0" fontAlgn="base" hangingPunct="0">
        <a:spcBef>
          <a:spcPct val="20000"/>
        </a:spcBef>
        <a:spcAft>
          <a:spcPct val="0"/>
        </a:spcAft>
        <a:buChar char="–"/>
        <a:defRPr sz="2800" b="1">
          <a:solidFill>
            <a:schemeClr val="tx1"/>
          </a:solidFill>
          <a:latin typeface="+mn-lt"/>
          <a:ea typeface="+mn-ea"/>
        </a:defRPr>
      </a:lvl4pPr>
      <a:lvl5pPr marL="2057400" indent="-228600" algn="l" rtl="0" eaLnBrk="0" fontAlgn="base" hangingPunct="0">
        <a:spcBef>
          <a:spcPct val="20000"/>
        </a:spcBef>
        <a:spcAft>
          <a:spcPct val="0"/>
        </a:spcAft>
        <a:buChar char="»"/>
        <a:defRPr sz="2800" b="1">
          <a:solidFill>
            <a:schemeClr val="tx1"/>
          </a:solidFill>
          <a:latin typeface="+mn-lt"/>
          <a:ea typeface="+mn-ea"/>
        </a:defRPr>
      </a:lvl5pPr>
      <a:lvl6pPr marL="2514600" indent="-228600" algn="l" rtl="0" fontAlgn="base">
        <a:spcBef>
          <a:spcPct val="20000"/>
        </a:spcBef>
        <a:spcAft>
          <a:spcPct val="0"/>
        </a:spcAft>
        <a:buChar char="»"/>
        <a:defRPr sz="2800" b="1">
          <a:solidFill>
            <a:schemeClr val="tx1"/>
          </a:solidFill>
          <a:latin typeface="+mn-lt"/>
          <a:ea typeface="+mn-ea"/>
        </a:defRPr>
      </a:lvl6pPr>
      <a:lvl7pPr marL="2971800" indent="-228600" algn="l" rtl="0" fontAlgn="base">
        <a:spcBef>
          <a:spcPct val="20000"/>
        </a:spcBef>
        <a:spcAft>
          <a:spcPct val="0"/>
        </a:spcAft>
        <a:buChar char="»"/>
        <a:defRPr sz="2800" b="1">
          <a:solidFill>
            <a:schemeClr val="tx1"/>
          </a:solidFill>
          <a:latin typeface="+mn-lt"/>
          <a:ea typeface="+mn-ea"/>
        </a:defRPr>
      </a:lvl7pPr>
      <a:lvl8pPr marL="3429000" indent="-228600" algn="l" rtl="0" fontAlgn="base">
        <a:spcBef>
          <a:spcPct val="20000"/>
        </a:spcBef>
        <a:spcAft>
          <a:spcPct val="0"/>
        </a:spcAft>
        <a:buChar char="»"/>
        <a:defRPr sz="2800" b="1">
          <a:solidFill>
            <a:schemeClr val="tx1"/>
          </a:solidFill>
          <a:latin typeface="+mn-lt"/>
          <a:ea typeface="+mn-ea"/>
        </a:defRPr>
      </a:lvl8pPr>
      <a:lvl9pPr marL="3886200" indent="-228600" algn="l" rtl="0" fontAlgn="base">
        <a:spcBef>
          <a:spcPct val="20000"/>
        </a:spcBef>
        <a:spcAft>
          <a:spcPct val="0"/>
        </a:spcAft>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2383631" y="2336006"/>
            <a:ext cx="6515100" cy="984647"/>
          </a:xfrm>
          <a:ln>
            <a:noFill/>
          </a:ln>
        </p:spPr>
        <p:txBody>
          <a:bodyPr wrap="square" lIns="68580" tIns="34290" rIns="68580" bIns="34290" anchor="ctr"/>
          <a:lstStyle/>
          <a:p>
            <a:pPr algn="ctr" eaLnBrk="1" hangingPunct="1">
              <a:buClrTx/>
              <a:buSzTx/>
              <a:buFontTx/>
            </a:pPr>
            <a:r>
              <a:rPr lang="en-US" altLang="zh-CN" sz="3600" dirty="0">
                <a:solidFill>
                  <a:srgbClr val="003399"/>
                </a:solidFill>
                <a:latin typeface="黑体" panose="02010609060101010101" pitchFamily="49" charset="-122"/>
                <a:ea typeface="黑体" panose="02010609060101010101" pitchFamily="49" charset="-122"/>
                <a:cs typeface="+mj-cs"/>
              </a:rPr>
              <a:t> </a:t>
            </a:r>
            <a:r>
              <a:rPr lang="zh-CN" altLang="en-US" sz="3600" dirty="0">
                <a:solidFill>
                  <a:srgbClr val="003399"/>
                </a:solidFill>
                <a:latin typeface="黑体" panose="02010609060101010101" pitchFamily="49" charset="-122"/>
                <a:ea typeface="黑体" panose="02010609060101010101" pitchFamily="49" charset="-122"/>
                <a:cs typeface="+mj-cs"/>
              </a:rPr>
              <a:t>软件工程</a:t>
            </a:r>
            <a:br>
              <a:rPr lang="zh-CN" altLang="en-US" sz="3600" dirty="0">
                <a:solidFill>
                  <a:srgbClr val="003399"/>
                </a:solidFill>
                <a:latin typeface="黑体" panose="02010609060101010101" pitchFamily="49" charset="-122"/>
                <a:ea typeface="黑体" panose="02010609060101010101" pitchFamily="49" charset="-122"/>
                <a:cs typeface="+mj-cs"/>
              </a:rPr>
            </a:br>
            <a:endParaRPr lang="zh-CN" altLang="en-US" sz="3600" dirty="0">
              <a:solidFill>
                <a:srgbClr val="003399"/>
              </a:solidFill>
              <a:latin typeface="黑体" panose="02010609060101010101" pitchFamily="49" charset="-122"/>
              <a:ea typeface="黑体" panose="02010609060101010101" pitchFamily="49" charset="-122"/>
              <a:cs typeface="+mj-cs"/>
            </a:endParaRPr>
          </a:p>
        </p:txBody>
      </p:sp>
      <p:sp>
        <p:nvSpPr>
          <p:cNvPr id="4099" name="Rectangle 4"/>
          <p:cNvSpPr/>
          <p:nvPr/>
        </p:nvSpPr>
        <p:spPr>
          <a:xfrm>
            <a:off x="5753100" y="1771650"/>
            <a:ext cx="3257550" cy="457200"/>
          </a:xfrm>
          <a:prstGeom prst="rect">
            <a:avLst/>
          </a:prstGeom>
          <a:noFill/>
          <a:ln w="9525">
            <a:noFill/>
          </a:ln>
        </p:spPr>
        <p:txBody>
          <a:bodyPr/>
          <a:lstStyle/>
          <a:p>
            <a:pPr marL="287655" indent="-287655" algn="r">
              <a:spcBef>
                <a:spcPct val="20000"/>
              </a:spcBef>
            </a:pPr>
            <a:endParaRPr lang="zh-CN" altLang="en-US" sz="1500" b="1" dirty="0">
              <a:latin typeface="Times New Roman" panose="02020603050405020304" pitchFamily="18" charset="0"/>
              <a:ea typeface="楷体_GB2312" pitchFamily="49" charset="-122"/>
            </a:endParaRPr>
          </a:p>
        </p:txBody>
      </p:sp>
      <p:sp>
        <p:nvSpPr>
          <p:cNvPr id="4101" name="Rectangle 6"/>
          <p:cNvSpPr/>
          <p:nvPr/>
        </p:nvSpPr>
        <p:spPr>
          <a:xfrm>
            <a:off x="4674870" y="3708083"/>
            <a:ext cx="2326640" cy="414020"/>
          </a:xfrm>
          <a:prstGeom prst="rect">
            <a:avLst/>
          </a:prstGeom>
          <a:noFill/>
          <a:ln w="9525">
            <a:noFill/>
          </a:ln>
        </p:spPr>
        <p:txBody>
          <a:bodyPr wrap="none">
            <a:spAutoFit/>
          </a:bodyPr>
          <a:lstStyle/>
          <a:p>
            <a:r>
              <a:rPr lang="zh-CN" altLang="en-US" sz="2100" b="1" dirty="0">
                <a:solidFill>
                  <a:srgbClr val="003399"/>
                </a:solidFill>
                <a:latin typeface="Times New Roman" panose="02020603050405020304" pitchFamily="18" charset="0"/>
              </a:rPr>
              <a:t>主讲教师：郭晓娟</a:t>
            </a:r>
            <a:endParaRPr lang="en-US" altLang="zh-CN" sz="2100" b="1" dirty="0">
              <a:solidFill>
                <a:srgbClr val="003399"/>
              </a:solidFill>
              <a:latin typeface="Times New Roman" panose="02020603050405020304" pitchFamily="18" charset="0"/>
            </a:endParaRPr>
          </a:p>
        </p:txBody>
      </p:sp>
      <p:sp>
        <p:nvSpPr>
          <p:cNvPr id="4102" name="Rectangle 6"/>
          <p:cNvSpPr/>
          <p:nvPr/>
        </p:nvSpPr>
        <p:spPr>
          <a:xfrm>
            <a:off x="4728448" y="4190286"/>
            <a:ext cx="2084070" cy="414020"/>
          </a:xfrm>
          <a:prstGeom prst="rect">
            <a:avLst/>
          </a:prstGeom>
          <a:noFill/>
          <a:ln w="9525">
            <a:noFill/>
          </a:ln>
        </p:spPr>
        <p:txBody>
          <a:bodyPr wrap="none">
            <a:spAutoFit/>
          </a:bodyPr>
          <a:lstStyle/>
          <a:p>
            <a:r>
              <a:rPr lang="en-US" altLang="zh-CN" sz="2100" b="1" dirty="0">
                <a:solidFill>
                  <a:srgbClr val="003399"/>
                </a:solidFill>
                <a:latin typeface="Times New Roman" panose="02020603050405020304" pitchFamily="18" charset="0"/>
              </a:rPr>
              <a:t>Tel:15836072813</a:t>
            </a:r>
          </a:p>
        </p:txBody>
      </p:sp>
      <p:sp>
        <p:nvSpPr>
          <p:cNvPr id="7" name="Rectangle 6"/>
          <p:cNvSpPr/>
          <p:nvPr/>
        </p:nvSpPr>
        <p:spPr>
          <a:xfrm>
            <a:off x="4327208" y="4618911"/>
            <a:ext cx="3149600" cy="414020"/>
          </a:xfrm>
          <a:prstGeom prst="rect">
            <a:avLst/>
          </a:prstGeom>
          <a:noFill/>
          <a:ln w="9525">
            <a:noFill/>
          </a:ln>
        </p:spPr>
        <p:txBody>
          <a:bodyPr wrap="none">
            <a:spAutoFit/>
          </a:bodyPr>
          <a:lstStyle/>
          <a:p>
            <a:r>
              <a:rPr lang="en-US" altLang="zh-CN" sz="2100" b="1" dirty="0">
                <a:solidFill>
                  <a:srgbClr val="003399"/>
                </a:solidFill>
                <a:latin typeface="Times New Roman" panose="02020603050405020304" pitchFamily="18" charset="0"/>
              </a:rPr>
              <a:t>E-Mail:gxj1315@126.com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box(in)">
                                      <p:cBhvr>
                                        <p:cTn id="7" dur="500"/>
                                        <p:tgtEl>
                                          <p:spTgt spid="410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4102"/>
                                        </p:tgtEl>
                                        <p:attrNameLst>
                                          <p:attrName>style.visibility</p:attrName>
                                        </p:attrNameLst>
                                      </p:cBhvr>
                                      <p:to>
                                        <p:strVal val="visible"/>
                                      </p:to>
                                    </p:set>
                                    <p:animEffect transition="in" filter="diamond(in)">
                                      <p:cBhvr>
                                        <p:cTn id="12" dur="2000"/>
                                        <p:tgtEl>
                                          <p:spTgt spid="410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P spid="4102"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676" y="8620"/>
            <a:ext cx="10910917" cy="706755"/>
          </a:xfrm>
        </p:spPr>
        <p:txBody>
          <a:bodyPr/>
          <a:lstStyle/>
          <a:p>
            <a:r>
              <a:rPr lang="zh-CN" altLang="zh-CN"/>
              <a:t>课程内容安排</a:t>
            </a:r>
          </a:p>
        </p:txBody>
      </p:sp>
      <p:sp>
        <p:nvSpPr>
          <p:cNvPr id="3" name="内容占位符 2"/>
          <p:cNvSpPr>
            <a:spLocks noGrp="1"/>
          </p:cNvSpPr>
          <p:nvPr>
            <p:ph idx="1"/>
          </p:nvPr>
        </p:nvSpPr>
        <p:spPr/>
        <p:txBody>
          <a:bodyPr/>
          <a:lstStyle/>
          <a:p>
            <a:r>
              <a:rPr lang="zh-CN" altLang="en-US" dirty="0">
                <a:gradFill>
                  <a:gsLst>
                    <a:gs pos="0">
                      <a:srgbClr val="012D86"/>
                    </a:gs>
                    <a:gs pos="100000">
                      <a:srgbClr val="0E2557"/>
                    </a:gs>
                  </a:gsLst>
                  <a:lin scaled="0"/>
                </a:gradFill>
                <a:latin typeface="+mn-ea"/>
                <a:sym typeface="+mn-ea"/>
              </a:rPr>
              <a:t>软件与软件工程</a:t>
            </a:r>
            <a:endParaRPr lang="en-US" altLang="zh-CN" noProof="1">
              <a:gradFill>
                <a:gsLst>
                  <a:gs pos="0">
                    <a:srgbClr val="012D86"/>
                  </a:gs>
                  <a:gs pos="100000">
                    <a:srgbClr val="0E2557"/>
                  </a:gs>
                </a:gsLst>
                <a:lin scaled="0"/>
              </a:gradFill>
              <a:latin typeface="+mn-ea"/>
            </a:endParaRPr>
          </a:p>
          <a:p>
            <a:r>
              <a:rPr lang="zh-CN" altLang="en-US" dirty="0">
                <a:gradFill>
                  <a:gsLst>
                    <a:gs pos="0">
                      <a:srgbClr val="012D86"/>
                    </a:gs>
                    <a:gs pos="100000">
                      <a:srgbClr val="0E2557"/>
                    </a:gs>
                  </a:gsLst>
                  <a:lin scaled="0"/>
                </a:gradFill>
                <a:latin typeface="+mn-ea"/>
                <a:sym typeface="+mn-ea"/>
              </a:rPr>
              <a:t>软件过程</a:t>
            </a:r>
            <a:endParaRPr lang="zh-CN" altLang="en-US" noProof="1">
              <a:gradFill>
                <a:gsLst>
                  <a:gs pos="0">
                    <a:srgbClr val="012D86"/>
                  </a:gs>
                  <a:gs pos="100000">
                    <a:srgbClr val="0E2557"/>
                  </a:gs>
                </a:gsLst>
                <a:lin scaled="0"/>
              </a:gradFill>
              <a:latin typeface="+mn-ea"/>
            </a:endParaRPr>
          </a:p>
          <a:p>
            <a:pPr algn="l">
              <a:buClrTx/>
              <a:buSzTx/>
            </a:pPr>
            <a:r>
              <a:rPr lang="zh-CN" altLang="en-US" dirty="0">
                <a:gradFill>
                  <a:gsLst>
                    <a:gs pos="0">
                      <a:srgbClr val="012D86"/>
                    </a:gs>
                    <a:gs pos="100000">
                      <a:srgbClr val="0E2557"/>
                    </a:gs>
                  </a:gsLst>
                  <a:lin scaled="0"/>
                </a:gradFill>
                <a:latin typeface="+mn-ea"/>
                <a:sym typeface="+mn-ea"/>
              </a:rPr>
              <a:t>可行性研究与项目开发计划</a:t>
            </a:r>
          </a:p>
          <a:p>
            <a:pPr algn="l">
              <a:buClrTx/>
              <a:buSzTx/>
            </a:pPr>
            <a:r>
              <a:rPr lang="zh-CN" altLang="en-US" dirty="0">
                <a:solidFill>
                  <a:schemeClr val="accent6">
                    <a:lumMod val="50000"/>
                  </a:schemeClr>
                </a:solidFill>
                <a:latin typeface="+mn-ea"/>
                <a:sym typeface="+mn-ea"/>
              </a:rPr>
              <a:t>需求分析</a:t>
            </a:r>
            <a:endParaRPr lang="zh-CN" altLang="en-US" noProof="1">
              <a:solidFill>
                <a:schemeClr val="accent6">
                  <a:lumMod val="50000"/>
                </a:schemeClr>
              </a:solidFill>
              <a:latin typeface="+mn-ea"/>
            </a:endParaRPr>
          </a:p>
          <a:p>
            <a:r>
              <a:rPr lang="zh-CN" altLang="en-US" dirty="0">
                <a:solidFill>
                  <a:schemeClr val="accent2">
                    <a:lumMod val="50000"/>
                  </a:schemeClr>
                </a:solidFill>
                <a:latin typeface="+mn-ea"/>
                <a:sym typeface="+mn-ea"/>
              </a:rPr>
              <a:t>总体设计</a:t>
            </a:r>
            <a:endParaRPr lang="en-US" altLang="zh-CN" noProof="1">
              <a:solidFill>
                <a:schemeClr val="accent2">
                  <a:lumMod val="50000"/>
                </a:schemeClr>
              </a:solidFill>
              <a:latin typeface="+mn-ea"/>
            </a:endParaRPr>
          </a:p>
          <a:p>
            <a:r>
              <a:rPr lang="zh-CN" altLang="en-US" dirty="0">
                <a:solidFill>
                  <a:srgbClr val="FF0000"/>
                </a:solidFill>
                <a:latin typeface="+mn-ea"/>
                <a:sym typeface="+mn-ea"/>
              </a:rPr>
              <a:t>详细设计与实现</a:t>
            </a:r>
            <a:endParaRPr lang="en-US" altLang="zh-CN" noProof="1">
              <a:solidFill>
                <a:srgbClr val="FF0000"/>
              </a:solidFill>
              <a:latin typeface="+mn-ea"/>
            </a:endParaRPr>
          </a:p>
          <a:p>
            <a:r>
              <a:rPr lang="zh-CN" altLang="en-US" dirty="0">
                <a:gradFill>
                  <a:gsLst>
                    <a:gs pos="0">
                      <a:srgbClr val="012D86"/>
                    </a:gs>
                    <a:gs pos="100000">
                      <a:srgbClr val="0E2557"/>
                    </a:gs>
                  </a:gsLst>
                  <a:lin scaled="0"/>
                </a:gradFill>
                <a:latin typeface="+mn-ea"/>
                <a:sym typeface="+mn-ea"/>
              </a:rPr>
              <a:t>软件测试</a:t>
            </a:r>
          </a:p>
          <a:p>
            <a:r>
              <a:rPr lang="zh-CN" altLang="en-US" dirty="0">
                <a:gradFill>
                  <a:gsLst>
                    <a:gs pos="0">
                      <a:srgbClr val="012D86"/>
                    </a:gs>
                    <a:gs pos="100000">
                      <a:srgbClr val="0E2557"/>
                    </a:gs>
                  </a:gsLst>
                  <a:lin scaled="0"/>
                </a:gradFill>
                <a:latin typeface="+mn-ea"/>
                <a:sym typeface="+mn-ea"/>
              </a:rPr>
              <a:t>软件维护</a:t>
            </a:r>
            <a:endParaRPr lang="en-US" altLang="zh-CN" noProof="1">
              <a:gradFill>
                <a:gsLst>
                  <a:gs pos="0">
                    <a:srgbClr val="012D86"/>
                  </a:gs>
                  <a:gs pos="100000">
                    <a:srgbClr val="0E2557"/>
                  </a:gs>
                </a:gsLst>
                <a:lin scaled="0"/>
              </a:gradFill>
              <a:latin typeface="+mn-ea"/>
            </a:endParaRPr>
          </a:p>
          <a:p>
            <a:r>
              <a:rPr lang="zh-CN" altLang="en-US" dirty="0">
                <a:gradFill>
                  <a:gsLst>
                    <a:gs pos="0">
                      <a:srgbClr val="14CD68"/>
                    </a:gs>
                    <a:gs pos="100000">
                      <a:srgbClr val="0B6E38"/>
                    </a:gs>
                  </a:gsLst>
                  <a:lin scaled="0"/>
                </a:gradFill>
                <a:latin typeface="+mn-ea"/>
                <a:sym typeface="+mn-ea"/>
              </a:rPr>
              <a:t>软件工程管理</a:t>
            </a:r>
            <a:endParaRPr lang="en-US" altLang="zh-CN" noProof="1">
              <a:gradFill>
                <a:gsLst>
                  <a:gs pos="0">
                    <a:srgbClr val="14CD68"/>
                  </a:gs>
                  <a:gs pos="100000">
                    <a:srgbClr val="0B6E38"/>
                  </a:gs>
                </a:gsLst>
                <a:lin scaled="0"/>
              </a:gradFill>
              <a:latin typeface="+mn-ea"/>
            </a:endParaRPr>
          </a:p>
          <a:p>
            <a:endParaRPr lang="zh-CN" altLang="en-US" dirty="0">
              <a:latin typeface="+mn-ea"/>
            </a:endParaRPr>
          </a:p>
        </p:txBody>
      </p:sp>
    </p:spTree>
    <p:extLst>
      <p:ext uri="{BB962C8B-B14F-4D97-AF65-F5344CB8AC3E}">
        <p14:creationId xmlns:p14="http://schemas.microsoft.com/office/powerpoint/2010/main" val="3625931572"/>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641667" y="2797964"/>
            <a:ext cx="10907713" cy="1262062"/>
          </a:xfrm>
          <a:prstGeom prst="rect">
            <a:avLst/>
          </a:prstGeom>
        </p:spPr>
        <p:txBody>
          <a:bodyPr>
            <a:normAutofit/>
          </a:bodyPr>
          <a:lstStyle>
            <a:lvl1pPr algn="ctr" rtl="0" eaLnBrk="0" fontAlgn="base" hangingPunct="0">
              <a:spcBef>
                <a:spcPct val="0"/>
              </a:spcBef>
              <a:spcAft>
                <a:spcPct val="0"/>
              </a:spcAft>
              <a:defRPr kumimoji="1" sz="4400" kern="1200">
                <a:solidFill>
                  <a:schemeClr val="tx1"/>
                </a:solidFill>
                <a:latin typeface="+mj-lt"/>
                <a:ea typeface="+mj-ea"/>
                <a:cs typeface="微软雅黑" panose="020B0503020204020204" charset="-122"/>
              </a:defRPr>
            </a:lvl1pPr>
            <a:lvl2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2pPr>
            <a:lvl3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3pPr>
            <a:lvl4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4pPr>
            <a:lvl5pPr algn="ctr" rtl="0" eaLnBrk="0" fontAlgn="base" hangingPunct="0">
              <a:spcBef>
                <a:spcPct val="0"/>
              </a:spcBef>
              <a:spcAft>
                <a:spcPct val="0"/>
              </a:spcAft>
              <a:defRPr kumimoji="1" sz="4400">
                <a:solidFill>
                  <a:schemeClr val="tx1"/>
                </a:solidFill>
                <a:latin typeface="Times New Roman" panose="02020603050405020304" pitchFamily="18" charset="0"/>
                <a:ea typeface="微软雅黑" panose="020B0503020204020204" charset="-122"/>
                <a:cs typeface="微软雅黑" panose="020B0503020204020204" charset="-122"/>
              </a:defRPr>
            </a:lvl5pPr>
            <a:lvl6pPr marL="4572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6pPr>
            <a:lvl7pPr marL="9144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7pPr>
            <a:lvl8pPr marL="13716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8pPr>
            <a:lvl9pPr marL="1828800" algn="ctr" rtl="0" fontAlgn="base">
              <a:spcBef>
                <a:spcPct val="0"/>
              </a:spcBef>
              <a:spcAft>
                <a:spcPct val="0"/>
              </a:spcAft>
              <a:defRPr sz="4400">
                <a:solidFill>
                  <a:schemeClr val="tx1"/>
                </a:solidFill>
                <a:latin typeface="Times New Roman" panose="02020603050405020304" pitchFamily="18" charset="0"/>
                <a:ea typeface="微软雅黑" panose="020B0503020204020204" charset="-122"/>
                <a:cs typeface="微软雅黑" panose="020B0503020204020204" charset="-122"/>
              </a:defRPr>
            </a:lvl9pPr>
          </a:lstStyle>
          <a:p>
            <a:pPr eaLnBrk="1" hangingPunct="1">
              <a:lnSpc>
                <a:spcPct val="150000"/>
              </a:lnSpc>
              <a:defRPr/>
            </a:pPr>
            <a:r>
              <a:rPr lang="en-US" altLang="zh-CN" b="1" dirty="0">
                <a:solidFill>
                  <a:srgbClr val="C00000"/>
                </a:solidFill>
                <a:latin typeface="微软雅黑" panose="020B0503020204020204" charset="-122"/>
                <a:ea typeface="微软雅黑" panose="020B0503020204020204" charset="-122"/>
              </a:rPr>
              <a:t>7 </a:t>
            </a:r>
            <a:r>
              <a:rPr lang="zh-CN" altLang="en-US" b="1" dirty="0">
                <a:solidFill>
                  <a:srgbClr val="C00000"/>
                </a:solidFill>
                <a:latin typeface="微软雅黑" panose="020B0503020204020204" charset="-122"/>
                <a:ea typeface="微软雅黑" panose="020B0503020204020204" charset="-122"/>
              </a:rPr>
              <a:t>软件测试</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51542" y="8620"/>
            <a:ext cx="10909212" cy="706755"/>
          </a:xfrm>
        </p:spPr>
        <p:txBody>
          <a:bodyPr/>
          <a:lstStyle/>
          <a:p>
            <a:r>
              <a:rPr lang="zh-CN" altLang="en-US" dirty="0"/>
              <a:t>内容</a:t>
            </a:r>
          </a:p>
        </p:txBody>
      </p:sp>
      <p:sp>
        <p:nvSpPr>
          <p:cNvPr id="2" name="内容占位符 1"/>
          <p:cNvSpPr>
            <a:spLocks noGrp="1"/>
          </p:cNvSpPr>
          <p:nvPr>
            <p:ph idx="1"/>
          </p:nvPr>
        </p:nvSpPr>
        <p:spPr>
          <a:xfrm>
            <a:off x="540703" y="1125538"/>
            <a:ext cx="10920052" cy="5040312"/>
          </a:xfrm>
        </p:spPr>
        <p:txBody>
          <a:bodyPr/>
          <a:lstStyle/>
          <a:p>
            <a:pPr marL="514350" indent="-514350">
              <a:buFont typeface="+mj-lt"/>
              <a:buAutoNum type="arabicPeriod"/>
            </a:pPr>
            <a:r>
              <a:rPr lang="zh-CN" altLang="en-US" dirty="0">
                <a:solidFill>
                  <a:schemeClr val="bg1">
                    <a:lumMod val="85000"/>
                  </a:schemeClr>
                </a:solidFill>
              </a:rPr>
              <a:t>软件测试概述</a:t>
            </a:r>
            <a:endParaRPr lang="en-US" altLang="zh-CN" dirty="0">
              <a:solidFill>
                <a:schemeClr val="bg1">
                  <a:lumMod val="85000"/>
                </a:schemeClr>
              </a:solidFill>
            </a:endParaRPr>
          </a:p>
          <a:p>
            <a:pPr lvl="1"/>
            <a:r>
              <a:rPr lang="zh-CN" altLang="en-US" dirty="0">
                <a:solidFill>
                  <a:schemeClr val="bg1">
                    <a:lumMod val="85000"/>
                  </a:schemeClr>
                </a:solidFill>
              </a:rPr>
              <a:t>软件测试的思想和原理</a:t>
            </a:r>
            <a:endParaRPr lang="en-US" altLang="zh-CN" dirty="0">
              <a:solidFill>
                <a:schemeClr val="bg1">
                  <a:lumMod val="85000"/>
                </a:schemeClr>
              </a:solidFill>
            </a:endParaRPr>
          </a:p>
          <a:p>
            <a:pPr marL="514350" indent="-514350">
              <a:buFont typeface="+mj-lt"/>
              <a:buAutoNum type="arabicPeriod"/>
            </a:pPr>
            <a:r>
              <a:rPr lang="zh-CN" altLang="en-US" dirty="0">
                <a:solidFill>
                  <a:schemeClr val="bg1">
                    <a:lumMod val="85000"/>
                  </a:schemeClr>
                </a:solidFill>
              </a:rPr>
              <a:t>软件测试的过程和策略</a:t>
            </a:r>
            <a:endParaRPr lang="en-US" altLang="zh-CN" dirty="0">
              <a:solidFill>
                <a:schemeClr val="bg1">
                  <a:lumMod val="85000"/>
                </a:schemeClr>
              </a:solidFill>
            </a:endParaRPr>
          </a:p>
          <a:p>
            <a:pPr lvl="1"/>
            <a:r>
              <a:rPr lang="zh-CN" altLang="en-US" dirty="0">
                <a:solidFill>
                  <a:schemeClr val="bg1">
                    <a:lumMod val="85000"/>
                  </a:schemeClr>
                </a:solidFill>
              </a:rPr>
              <a:t>软件测试的活动及实施的方法</a:t>
            </a:r>
            <a:endParaRPr lang="en-US" altLang="zh-CN" dirty="0">
              <a:solidFill>
                <a:schemeClr val="bg1">
                  <a:lumMod val="85000"/>
                </a:schemeClr>
              </a:solidFill>
            </a:endParaRPr>
          </a:p>
          <a:p>
            <a:pPr marL="514350" indent="-514350">
              <a:buFont typeface="+mj-lt"/>
              <a:buAutoNum type="arabicPeriod"/>
            </a:pPr>
            <a:r>
              <a:rPr lang="zh-CN" altLang="en-US" dirty="0">
                <a:solidFill>
                  <a:schemeClr val="bg1">
                    <a:lumMod val="85000"/>
                  </a:schemeClr>
                </a:solidFill>
              </a:rPr>
              <a:t>软件测试技术</a:t>
            </a:r>
          </a:p>
          <a:p>
            <a:pPr lvl="1"/>
            <a:r>
              <a:rPr lang="zh-CN" altLang="en-US" dirty="0">
                <a:solidFill>
                  <a:schemeClr val="bg1">
                    <a:lumMod val="85000"/>
                  </a:schemeClr>
                </a:solidFill>
              </a:rPr>
              <a:t>白盒和黑盒测试技术</a:t>
            </a:r>
            <a:endParaRPr lang="en-US" altLang="zh-CN" dirty="0">
              <a:solidFill>
                <a:schemeClr val="bg1">
                  <a:lumMod val="85000"/>
                </a:schemeClr>
              </a:solidFill>
            </a:endParaRPr>
          </a:p>
          <a:p>
            <a:pPr marL="514350" indent="-514350">
              <a:buFont typeface="+mj-lt"/>
              <a:buAutoNum type="arabicPeriod"/>
            </a:pPr>
            <a:r>
              <a:rPr lang="zh-CN" altLang="en-US" dirty="0">
                <a:solidFill>
                  <a:srgbClr val="C00000"/>
                </a:solidFill>
              </a:rPr>
              <a:t>软件测试计划及输出</a:t>
            </a:r>
            <a:endParaRPr lang="en-US" altLang="zh-CN" dirty="0">
              <a:solidFill>
                <a:srgbClr val="C00000"/>
              </a:solidFill>
            </a:endParaRPr>
          </a:p>
          <a:p>
            <a:pPr lvl="1"/>
            <a:r>
              <a:rPr lang="zh-CN" altLang="en-US" dirty="0">
                <a:solidFill>
                  <a:srgbClr val="C00000"/>
                </a:solidFill>
              </a:rPr>
              <a:t>测试计划制定及测试</a:t>
            </a:r>
            <a:r>
              <a:rPr lang="zh-CN" altLang="en-US" dirty="0" smtClean="0">
                <a:solidFill>
                  <a:srgbClr val="C00000"/>
                </a:solidFill>
              </a:rPr>
              <a:t>结果</a:t>
            </a:r>
            <a:endParaRPr lang="en-US" altLang="zh-CN" dirty="0" smtClean="0">
              <a:solidFill>
                <a:srgbClr val="C00000"/>
              </a:solidFill>
            </a:endParaRPr>
          </a:p>
          <a:p>
            <a:pPr lvl="1"/>
            <a:r>
              <a:rPr lang="zh-CN" altLang="en-US" dirty="0" smtClean="0">
                <a:solidFill>
                  <a:srgbClr val="C00000"/>
                </a:solidFill>
              </a:rPr>
              <a:t>测试文档</a:t>
            </a:r>
            <a:endParaRPr lang="zh-CN" altLang="en-US" dirty="0">
              <a:solidFill>
                <a:srgbClr val="C00000"/>
              </a:solidFill>
            </a:endParaRPr>
          </a:p>
          <a:p>
            <a:pPr lvl="1"/>
            <a:endParaRPr lang="zh-CN" altLang="en-US" dirty="0"/>
          </a:p>
        </p:txBody>
      </p:sp>
      <p:sp>
        <p:nvSpPr>
          <p:cNvPr id="4" name="灯片编号占位符 3"/>
          <p:cNvSpPr>
            <a:spLocks noGrp="1"/>
          </p:cNvSpPr>
          <p:nvPr>
            <p:ph type="sldNum" sz="quarter" idx="4294967295"/>
          </p:nvPr>
        </p:nvSpPr>
        <p:spPr>
          <a:xfrm>
            <a:off x="11357928" y="6408738"/>
            <a:ext cx="833438" cy="365125"/>
          </a:xfrm>
        </p:spPr>
        <p:txBody>
          <a:bodyPr/>
          <a:lstStyle/>
          <a:p>
            <a:r>
              <a:rPr lang="zh-CN" altLang="en-US"/>
              <a:t>*</a:t>
            </a:r>
          </a:p>
        </p:txBody>
      </p:sp>
      <p:pic>
        <p:nvPicPr>
          <p:cNvPr id="7" name="Picture 2" descr="C:\Program Files\Microsoft Office\MEDIA\CAGCAT10\j0233018.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68367" y="2368330"/>
            <a:ext cx="2088232" cy="21213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542" y="8620"/>
            <a:ext cx="10909212" cy="706755"/>
          </a:xfrm>
        </p:spPr>
        <p:txBody>
          <a:bodyPr/>
          <a:lstStyle/>
          <a:p>
            <a:r>
              <a:rPr lang="en-US" altLang="zh-CN" dirty="0"/>
              <a:t>  </a:t>
            </a:r>
            <a:r>
              <a:rPr lang="zh-CN" altLang="en-US" dirty="0"/>
              <a:t>成立软件测试组织</a:t>
            </a:r>
          </a:p>
        </p:txBody>
      </p:sp>
      <p:sp>
        <p:nvSpPr>
          <p:cNvPr id="3" name="内容占位符 2"/>
          <p:cNvSpPr>
            <a:spLocks noGrp="1"/>
          </p:cNvSpPr>
          <p:nvPr>
            <p:ph idx="1"/>
          </p:nvPr>
        </p:nvSpPr>
        <p:spPr>
          <a:xfrm>
            <a:off x="540703" y="1125538"/>
            <a:ext cx="10920052" cy="5040312"/>
          </a:xfrm>
        </p:spPr>
        <p:txBody>
          <a:bodyPr/>
          <a:lstStyle/>
          <a:p>
            <a:r>
              <a:rPr lang="zh-CN" altLang="zh-CN" dirty="0"/>
              <a:t>软件测试是一项独立性的工作</a:t>
            </a:r>
            <a:endParaRPr lang="en-US" altLang="zh-CN" dirty="0"/>
          </a:p>
          <a:p>
            <a:r>
              <a:rPr lang="zh-CN" altLang="zh-CN" dirty="0"/>
              <a:t>成立单独的软件测试小组</a:t>
            </a:r>
            <a:endParaRPr lang="en-US" altLang="zh-CN" dirty="0"/>
          </a:p>
          <a:p>
            <a:pPr lvl="1"/>
            <a:r>
              <a:rPr lang="zh-CN" altLang="zh-CN" dirty="0"/>
              <a:t>成员由各个软件测试工作师组成</a:t>
            </a:r>
            <a:endParaRPr lang="en-US" altLang="zh-CN" dirty="0"/>
          </a:p>
          <a:p>
            <a:pPr lvl="1"/>
            <a:r>
              <a:rPr lang="zh-CN" altLang="zh-CN" dirty="0"/>
              <a:t>高效的开展软件测试，确保软件测试工作的权威性</a:t>
            </a:r>
            <a:endParaRPr lang="en-US" altLang="zh-CN" dirty="0"/>
          </a:p>
          <a:p>
            <a:pPr lvl="1"/>
            <a:r>
              <a:rPr lang="zh-CN" altLang="zh-CN" dirty="0"/>
              <a:t>软件测试小组也不受软件开发小组的管理，以确保软件测试的独立性和结果的客观性</a:t>
            </a:r>
            <a:endParaRPr lang="en-US" altLang="zh-CN" dirty="0"/>
          </a:p>
          <a:p>
            <a:r>
              <a:rPr lang="zh-CN" altLang="zh-CN" dirty="0"/>
              <a:t>需在软件开发早期就成立软件测试小组</a:t>
            </a:r>
            <a:endParaRPr lang="en-US" altLang="zh-CN" dirty="0"/>
          </a:p>
          <a:p>
            <a:pPr lvl="1"/>
            <a:r>
              <a:rPr lang="zh-CN" altLang="zh-CN" dirty="0"/>
              <a:t>以便他们尽早地介入到软件测试工作之中，包括开展必要培训、了解软件项目的整体情况、掌握软件需求、制定软件测试计划等</a:t>
            </a:r>
            <a:endParaRPr lang="zh-CN" altLang="en-US"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542" y="8620"/>
            <a:ext cx="10909212" cy="706755"/>
          </a:xfrm>
        </p:spPr>
        <p:txBody>
          <a:bodyPr/>
          <a:lstStyle/>
          <a:p>
            <a:r>
              <a:rPr lang="en-US" altLang="zh-CN" dirty="0"/>
              <a:t>  </a:t>
            </a:r>
            <a:r>
              <a:rPr lang="zh-CN" altLang="zh-CN" dirty="0"/>
              <a:t>制定和实施软件测试计划</a:t>
            </a:r>
            <a:r>
              <a:rPr lang="zh-CN" altLang="en-US" dirty="0"/>
              <a:t>（</a:t>
            </a:r>
            <a:r>
              <a:rPr lang="en-US" altLang="zh-CN" dirty="0"/>
              <a:t>1/2</a:t>
            </a:r>
            <a:r>
              <a:rPr lang="zh-CN" altLang="en-US" dirty="0"/>
              <a:t>）</a:t>
            </a:r>
          </a:p>
        </p:txBody>
      </p:sp>
      <p:sp>
        <p:nvSpPr>
          <p:cNvPr id="5" name="内容占位符 4"/>
          <p:cNvSpPr>
            <a:spLocks noGrp="1"/>
          </p:cNvSpPr>
          <p:nvPr>
            <p:ph idx="1"/>
          </p:nvPr>
        </p:nvSpPr>
        <p:spPr>
          <a:xfrm>
            <a:off x="540703" y="1125538"/>
            <a:ext cx="10920052" cy="5040312"/>
          </a:xfrm>
        </p:spPr>
        <p:txBody>
          <a:bodyPr/>
          <a:lstStyle/>
          <a:p>
            <a:pPr lvl="0"/>
            <a:r>
              <a:rPr lang="zh-CN" altLang="zh-CN" sz="2800" dirty="0">
                <a:solidFill>
                  <a:srgbClr val="C00000"/>
                </a:solidFill>
              </a:rPr>
              <a:t>标识符</a:t>
            </a:r>
            <a:r>
              <a:rPr lang="zh-CN" altLang="zh-CN" sz="2800" dirty="0"/>
              <a:t>：用以标识本测试计划</a:t>
            </a:r>
          </a:p>
          <a:p>
            <a:pPr lvl="0"/>
            <a:r>
              <a:rPr lang="zh-CN" altLang="zh-CN" sz="2800" dirty="0">
                <a:solidFill>
                  <a:srgbClr val="C00000"/>
                </a:solidFill>
              </a:rPr>
              <a:t>简介</a:t>
            </a:r>
            <a:r>
              <a:rPr lang="zh-CN" altLang="zh-CN" sz="2800" dirty="0"/>
              <a:t>：介绍测试的对象、目标、策略、过程和进程等方面的内容</a:t>
            </a:r>
          </a:p>
          <a:p>
            <a:pPr lvl="0"/>
            <a:r>
              <a:rPr lang="zh-CN" altLang="zh-CN" sz="2800" dirty="0">
                <a:solidFill>
                  <a:srgbClr val="C00000"/>
                </a:solidFill>
              </a:rPr>
              <a:t>测试项</a:t>
            </a:r>
            <a:r>
              <a:rPr lang="zh-CN" altLang="zh-CN" sz="2800" dirty="0"/>
              <a:t>：描述接受测试的软件元素，包括代码模块或质量属性</a:t>
            </a:r>
          </a:p>
          <a:p>
            <a:pPr lvl="0"/>
            <a:r>
              <a:rPr lang="zh-CN" altLang="zh-CN" sz="2800" dirty="0">
                <a:solidFill>
                  <a:srgbClr val="C00000"/>
                </a:solidFill>
              </a:rPr>
              <a:t>待测软件特征</a:t>
            </a:r>
            <a:r>
              <a:rPr lang="zh-CN" altLang="zh-CN" sz="2800" dirty="0"/>
              <a:t>：说明接受测试的软件特征，如软件需求等</a:t>
            </a:r>
          </a:p>
          <a:p>
            <a:pPr lvl="0"/>
            <a:r>
              <a:rPr lang="zh-CN" altLang="zh-CN" sz="2800" dirty="0">
                <a:solidFill>
                  <a:srgbClr val="C00000"/>
                </a:solidFill>
              </a:rPr>
              <a:t>免测软件特征</a:t>
            </a:r>
            <a:r>
              <a:rPr lang="zh-CN" altLang="zh-CN" sz="2800" dirty="0"/>
              <a:t>：说明无需接受测试的软件特征，如软件需求等</a:t>
            </a:r>
          </a:p>
          <a:p>
            <a:pPr lvl="0"/>
            <a:r>
              <a:rPr lang="zh-CN" altLang="zh-CN" sz="2800" dirty="0">
                <a:solidFill>
                  <a:srgbClr val="C00000"/>
                </a:solidFill>
              </a:rPr>
              <a:t>测试策略和手段</a:t>
            </a:r>
            <a:r>
              <a:rPr lang="zh-CN" altLang="zh-CN" sz="2800" dirty="0"/>
              <a:t>：说明对软件进行测试的策略和手段</a:t>
            </a:r>
          </a:p>
          <a:p>
            <a:pPr lvl="0"/>
            <a:r>
              <a:rPr lang="zh-CN" altLang="zh-CN" sz="2800" dirty="0">
                <a:solidFill>
                  <a:srgbClr val="C00000"/>
                </a:solidFill>
              </a:rPr>
              <a:t>测试项成败标准</a:t>
            </a:r>
            <a:r>
              <a:rPr lang="zh-CN" altLang="zh-CN" sz="2800" dirty="0"/>
              <a:t>：说明每个测试项通过软件测试的标准</a:t>
            </a:r>
          </a:p>
          <a:p>
            <a:pPr lvl="0"/>
            <a:r>
              <a:rPr lang="zh-CN" altLang="zh-CN" sz="2800" dirty="0">
                <a:solidFill>
                  <a:srgbClr val="C00000"/>
                </a:solidFill>
              </a:rPr>
              <a:t>测试暂停</a:t>
            </a:r>
            <a:r>
              <a:rPr lang="en-US" altLang="zh-CN" sz="2800" dirty="0">
                <a:solidFill>
                  <a:srgbClr val="C00000"/>
                </a:solidFill>
              </a:rPr>
              <a:t>/</a:t>
            </a:r>
            <a:r>
              <a:rPr lang="zh-CN" altLang="zh-CN" sz="2800" dirty="0">
                <a:solidFill>
                  <a:srgbClr val="C00000"/>
                </a:solidFill>
              </a:rPr>
              <a:t>停止的标准</a:t>
            </a:r>
            <a:r>
              <a:rPr lang="zh-CN" altLang="zh-CN" sz="2800" dirty="0"/>
              <a:t>：说明软件测试暂停或停止的决策依据</a:t>
            </a:r>
          </a:p>
          <a:p>
            <a:endParaRPr lang="zh-CN" altLang="en-US" sz="28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542" y="8620"/>
            <a:ext cx="10909212" cy="706755"/>
          </a:xfrm>
        </p:spPr>
        <p:txBody>
          <a:bodyPr/>
          <a:lstStyle/>
          <a:p>
            <a:r>
              <a:rPr lang="zh-CN" altLang="zh-CN" dirty="0"/>
              <a:t>制定和实施软件测试计划</a:t>
            </a:r>
            <a:r>
              <a:rPr lang="zh-CN" altLang="en-US" dirty="0"/>
              <a:t>（</a:t>
            </a:r>
            <a:r>
              <a:rPr lang="en-US" altLang="zh-CN" dirty="0"/>
              <a:t>2/2</a:t>
            </a:r>
            <a:r>
              <a:rPr lang="zh-CN" altLang="en-US" dirty="0"/>
              <a:t>）</a:t>
            </a:r>
          </a:p>
        </p:txBody>
      </p:sp>
      <p:sp>
        <p:nvSpPr>
          <p:cNvPr id="5" name="内容占位符 4"/>
          <p:cNvSpPr>
            <a:spLocks noGrp="1"/>
          </p:cNvSpPr>
          <p:nvPr>
            <p:ph idx="1"/>
          </p:nvPr>
        </p:nvSpPr>
        <p:spPr>
          <a:xfrm>
            <a:off x="540703" y="1125538"/>
            <a:ext cx="10920052" cy="5040312"/>
          </a:xfrm>
        </p:spPr>
        <p:txBody>
          <a:bodyPr/>
          <a:lstStyle/>
          <a:p>
            <a:pPr lvl="0"/>
            <a:r>
              <a:rPr lang="zh-CN" altLang="zh-CN" sz="2800" dirty="0">
                <a:solidFill>
                  <a:srgbClr val="C00000"/>
                </a:solidFill>
              </a:rPr>
              <a:t>测试交付物</a:t>
            </a:r>
            <a:r>
              <a:rPr lang="zh-CN" altLang="zh-CN" sz="2800" dirty="0"/>
              <a:t>：说明测试过程中或完成之后应该交付的软件测试制品</a:t>
            </a:r>
          </a:p>
          <a:p>
            <a:pPr lvl="0"/>
            <a:r>
              <a:rPr lang="zh-CN" altLang="zh-CN" sz="2800" dirty="0">
                <a:solidFill>
                  <a:srgbClr val="C00000"/>
                </a:solidFill>
              </a:rPr>
              <a:t>测试任务</a:t>
            </a:r>
            <a:r>
              <a:rPr lang="zh-CN" altLang="zh-CN" sz="2800" dirty="0"/>
              <a:t>：描述测试的主要任务</a:t>
            </a:r>
          </a:p>
          <a:p>
            <a:pPr lvl="0"/>
            <a:r>
              <a:rPr lang="zh-CN" altLang="zh-CN" sz="2800" dirty="0">
                <a:solidFill>
                  <a:srgbClr val="C00000"/>
                </a:solidFill>
              </a:rPr>
              <a:t>测试环境</a:t>
            </a:r>
            <a:r>
              <a:rPr lang="zh-CN" altLang="zh-CN" sz="2800" dirty="0"/>
              <a:t>：描述测试所需建立的环境</a:t>
            </a:r>
          </a:p>
          <a:p>
            <a:pPr lvl="0"/>
            <a:r>
              <a:rPr lang="zh-CN" altLang="zh-CN" sz="2800" dirty="0">
                <a:solidFill>
                  <a:srgbClr val="C00000"/>
                </a:solidFill>
              </a:rPr>
              <a:t>职责</a:t>
            </a:r>
            <a:r>
              <a:rPr lang="zh-CN" altLang="zh-CN" sz="2800" dirty="0"/>
              <a:t>：说明每项测试任务的主要负责人或团队及其职责</a:t>
            </a:r>
          </a:p>
          <a:p>
            <a:pPr lvl="0"/>
            <a:r>
              <a:rPr lang="zh-CN" altLang="zh-CN" sz="2800" dirty="0">
                <a:solidFill>
                  <a:srgbClr val="C00000"/>
                </a:solidFill>
              </a:rPr>
              <a:t>进度安排</a:t>
            </a:r>
            <a:r>
              <a:rPr lang="zh-CN" altLang="zh-CN" sz="2800" dirty="0"/>
              <a:t>：描述测试的过程及时间安排</a:t>
            </a:r>
          </a:p>
          <a:p>
            <a:pPr lvl="0"/>
            <a:r>
              <a:rPr lang="zh-CN" altLang="zh-CN" sz="2800" dirty="0">
                <a:solidFill>
                  <a:srgbClr val="C00000"/>
                </a:solidFill>
              </a:rPr>
              <a:t>成本预算</a:t>
            </a:r>
            <a:r>
              <a:rPr lang="zh-CN" altLang="zh-CN" sz="2800" dirty="0"/>
              <a:t>：估算软件测试的成本</a:t>
            </a:r>
          </a:p>
          <a:p>
            <a:pPr lvl="0"/>
            <a:r>
              <a:rPr lang="zh-CN" altLang="zh-CN" sz="2800" dirty="0">
                <a:solidFill>
                  <a:srgbClr val="C00000"/>
                </a:solidFill>
              </a:rPr>
              <a:t>风险与意外</a:t>
            </a:r>
            <a:r>
              <a:rPr lang="zh-CN" altLang="zh-CN" sz="2800" dirty="0"/>
              <a:t>：描述测试过程中可能存在的风险和可能发生的意外</a:t>
            </a:r>
          </a:p>
          <a:p>
            <a:endParaRPr lang="zh-CN" altLang="en-US" sz="28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1542" y="8620"/>
            <a:ext cx="10909212" cy="706755"/>
          </a:xfrm>
        </p:spPr>
        <p:txBody>
          <a:bodyPr/>
          <a:lstStyle/>
          <a:p>
            <a:r>
              <a:rPr lang="en-US" altLang="zh-CN" dirty="0"/>
              <a:t>  </a:t>
            </a:r>
            <a:r>
              <a:rPr lang="zh-CN" altLang="en-US" dirty="0"/>
              <a:t>软件测试的输出</a:t>
            </a:r>
          </a:p>
        </p:txBody>
      </p:sp>
      <p:sp>
        <p:nvSpPr>
          <p:cNvPr id="3" name="内容占位符 2"/>
          <p:cNvSpPr>
            <a:spLocks noGrp="1"/>
          </p:cNvSpPr>
          <p:nvPr>
            <p:ph idx="1"/>
          </p:nvPr>
        </p:nvSpPr>
        <p:spPr>
          <a:xfrm>
            <a:off x="540703" y="1125538"/>
            <a:ext cx="10920052" cy="5040312"/>
          </a:xfrm>
        </p:spPr>
        <p:txBody>
          <a:bodyPr/>
          <a:lstStyle/>
          <a:p>
            <a:pPr lvl="0"/>
            <a:r>
              <a:rPr lang="zh-CN" altLang="zh-CN" dirty="0"/>
              <a:t>软件测试计划</a:t>
            </a:r>
          </a:p>
          <a:p>
            <a:pPr lvl="0"/>
            <a:r>
              <a:rPr lang="zh-CN" altLang="zh-CN" dirty="0"/>
              <a:t>软件测试报告</a:t>
            </a:r>
            <a:r>
              <a:rPr lang="zh-CN" altLang="en-US" dirty="0"/>
              <a:t>，</a:t>
            </a:r>
            <a:r>
              <a:rPr lang="zh-CN" altLang="zh-CN" dirty="0"/>
              <a:t>记录软件测试情况以及发现的缺陷</a:t>
            </a:r>
            <a:endParaRPr lang="en-US" altLang="zh-CN" dirty="0"/>
          </a:p>
          <a:p>
            <a:pPr lvl="1"/>
            <a:r>
              <a:rPr lang="zh-CN" altLang="zh-CN" dirty="0"/>
              <a:t>软件单元测试报告</a:t>
            </a:r>
            <a:endParaRPr lang="en-US" altLang="zh-CN" dirty="0"/>
          </a:p>
          <a:p>
            <a:pPr lvl="1"/>
            <a:r>
              <a:rPr lang="zh-CN" altLang="zh-CN" dirty="0"/>
              <a:t>软件集成测试报告</a:t>
            </a:r>
            <a:endParaRPr lang="en-US" altLang="zh-CN" dirty="0"/>
          </a:p>
          <a:p>
            <a:pPr lvl="1"/>
            <a:r>
              <a:rPr lang="zh-CN" altLang="zh-CN" dirty="0"/>
              <a:t>软件确认测试报告</a:t>
            </a:r>
            <a:endParaRPr lang="en-US" altLang="zh-CN" dirty="0"/>
          </a:p>
          <a:p>
            <a:pPr lvl="1"/>
            <a:r>
              <a:rPr lang="zh-CN" altLang="zh-CN" dirty="0"/>
              <a:t>系统测试报告等</a:t>
            </a:r>
            <a:endParaRPr lang="en-US" altLang="zh-CN" dirty="0"/>
          </a:p>
          <a:p>
            <a:pPr lvl="1"/>
            <a:r>
              <a:rPr lang="zh-CN" altLang="zh-CN" dirty="0"/>
              <a:t>每个报告详细</a:t>
            </a:r>
          </a:p>
          <a:p>
            <a:endParaRPr lang="zh-CN" altLang="en-US"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854075"/>
            <a:ext cx="12192635" cy="709295"/>
          </a:xfrm>
        </p:spPr>
        <p:txBody>
          <a:bodyPr/>
          <a:lstStyle/>
          <a:p>
            <a:pPr algn="ctr"/>
            <a:r>
              <a:rPr lang="zh-CN" altLang="en-US" sz="3600" dirty="0" smtClean="0">
                <a:solidFill>
                  <a:srgbClr val="FF0000"/>
                </a:solidFill>
              </a:rPr>
              <a:t>软件测试</a:t>
            </a:r>
            <a:r>
              <a:rPr lang="zh-CN" altLang="en-US" sz="3600" dirty="0">
                <a:solidFill>
                  <a:srgbClr val="FF0000"/>
                </a:solidFill>
              </a:rPr>
              <a:t>文档</a:t>
            </a:r>
            <a:endParaRPr lang="zh-CN" altLang="en-US" sz="3600" dirty="0"/>
          </a:p>
        </p:txBody>
      </p:sp>
      <p:sp>
        <p:nvSpPr>
          <p:cNvPr id="3" name="副标题 2"/>
          <p:cNvSpPr>
            <a:spLocks noGrp="1"/>
          </p:cNvSpPr>
          <p:nvPr>
            <p:ph type="subTitle" idx="1"/>
          </p:nvPr>
        </p:nvSpPr>
        <p:spPr>
          <a:xfrm>
            <a:off x="673100" y="1803400"/>
            <a:ext cx="11069320" cy="4309110"/>
          </a:xfrm>
        </p:spPr>
        <p:txBody>
          <a:bodyPr>
            <a:normAutofit/>
          </a:bodyPr>
          <a:lstStyle/>
          <a:p>
            <a:pPr>
              <a:buNone/>
            </a:pPr>
            <a:r>
              <a:rPr lang="en-US" altLang="zh-CN" dirty="0"/>
              <a:t>	        </a:t>
            </a:r>
            <a:r>
              <a:rPr lang="zh-CN" altLang="en-US" dirty="0"/>
              <a:t>软件测试需要把</a:t>
            </a:r>
            <a:r>
              <a:rPr lang="zh-CN" altLang="en-US" dirty="0">
                <a:solidFill>
                  <a:srgbClr val="FF0000"/>
                </a:solidFill>
              </a:rPr>
              <a:t>测试的过程和结果写成文档</a:t>
            </a:r>
            <a:r>
              <a:rPr lang="zh-CN" altLang="en-US" dirty="0"/>
              <a:t>，作为测试活动的基础；也需要对</a:t>
            </a:r>
            <a:r>
              <a:rPr lang="zh-CN" altLang="en-US" dirty="0">
                <a:solidFill>
                  <a:srgbClr val="FF0000"/>
                </a:solidFill>
              </a:rPr>
              <a:t>发现的问题和缺陷进行分析</a:t>
            </a:r>
            <a:r>
              <a:rPr lang="zh-CN" altLang="en-US" dirty="0"/>
              <a:t>，为纠正软件存在的质量问题提供依据，同时为软件验收和交付做铺垫。利用之前的读者类型编辑功能来完成如表</a:t>
            </a:r>
            <a:r>
              <a:rPr lang="en-US" altLang="zh-CN" dirty="0"/>
              <a:t>7-25</a:t>
            </a:r>
            <a:r>
              <a:rPr lang="zh-CN" altLang="en-US" dirty="0"/>
              <a:t>和表</a:t>
            </a:r>
            <a:r>
              <a:rPr lang="en-US" altLang="zh-CN" dirty="0"/>
              <a:t>7-26</a:t>
            </a:r>
            <a:r>
              <a:rPr lang="zh-CN" altLang="en-US" dirty="0"/>
              <a:t>所示的</a:t>
            </a:r>
            <a:r>
              <a:rPr lang="zh-CN" altLang="en-US" dirty="0">
                <a:solidFill>
                  <a:srgbClr val="FF0000"/>
                </a:solidFill>
              </a:rPr>
              <a:t>软件测试计划文档内容</a:t>
            </a:r>
            <a:r>
              <a:rPr lang="zh-CN" altLang="en-US" dirty="0"/>
              <a:t>和</a:t>
            </a:r>
            <a:r>
              <a:rPr lang="zh-CN" altLang="en-US" dirty="0">
                <a:solidFill>
                  <a:srgbClr val="FF0000"/>
                </a:solidFill>
              </a:rPr>
              <a:t>测试总结报告文档内容</a:t>
            </a:r>
            <a:r>
              <a:rPr lang="zh-CN" alt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474345" y="1441450"/>
            <a:ext cx="11242675" cy="5416550"/>
          </a:xfrm>
        </p:spPr>
        <p:txBody>
          <a:bodyPr>
            <a:noAutofit/>
          </a:bodyPr>
          <a:lstStyle/>
          <a:p>
            <a:pPr marL="0" indent="0">
              <a:buNone/>
            </a:pPr>
            <a:r>
              <a:rPr lang="en-US" altLang="zh-CN" sz="2400" dirty="0"/>
              <a:t>1 </a:t>
            </a:r>
            <a:r>
              <a:rPr lang="zh-CN" altLang="en-US" sz="2400" dirty="0"/>
              <a:t>引言</a:t>
            </a:r>
          </a:p>
          <a:p>
            <a:pPr marL="0" indent="0">
              <a:buNone/>
            </a:pPr>
            <a:r>
              <a:rPr lang="en-US" altLang="zh-CN" sz="2400" dirty="0"/>
              <a:t>1.1</a:t>
            </a:r>
            <a:r>
              <a:rPr lang="zh-CN" altLang="en-US" sz="2400" dirty="0"/>
              <a:t>编写目的</a:t>
            </a:r>
          </a:p>
          <a:p>
            <a:pPr marL="0" indent="0">
              <a:buNone/>
            </a:pPr>
            <a:r>
              <a:rPr lang="en-US" altLang="zh-CN" sz="2400" dirty="0"/>
              <a:t>1.2</a:t>
            </a:r>
            <a:r>
              <a:rPr lang="zh-CN" altLang="en-US" sz="2400" dirty="0"/>
              <a:t>背景</a:t>
            </a:r>
          </a:p>
          <a:p>
            <a:pPr marL="0" indent="0">
              <a:buNone/>
            </a:pPr>
            <a:r>
              <a:rPr lang="en-US" altLang="zh-CN" sz="2400" dirty="0"/>
              <a:t>a)</a:t>
            </a:r>
            <a:r>
              <a:rPr lang="zh-CN" altLang="en-US" sz="2400" dirty="0"/>
              <a:t>本测试计划是图书馆借阅管理系统开发文档的组成部分。</a:t>
            </a:r>
          </a:p>
          <a:p>
            <a:pPr marL="0" indent="0">
              <a:buNone/>
            </a:pPr>
            <a:r>
              <a:rPr lang="en-US" altLang="zh-CN" sz="2400" dirty="0"/>
              <a:t>b)</a:t>
            </a:r>
            <a:r>
              <a:rPr lang="zh-CN" altLang="en-US" sz="2400" dirty="0"/>
              <a:t>执行本测试计划之前确保界面搭建、代码书写、数据完整性已经完成。</a:t>
            </a:r>
          </a:p>
          <a:p>
            <a:pPr marL="0" indent="0">
              <a:buNone/>
            </a:pPr>
            <a:r>
              <a:rPr lang="en-US" altLang="zh-CN" sz="2400" dirty="0"/>
              <a:t>1.3</a:t>
            </a:r>
            <a:r>
              <a:rPr lang="zh-CN" altLang="en-US" sz="2400" dirty="0"/>
              <a:t>定义</a:t>
            </a:r>
          </a:p>
          <a:p>
            <a:pPr marL="0" indent="0">
              <a:buNone/>
            </a:pPr>
            <a:r>
              <a:rPr lang="en-US" altLang="zh-CN" sz="2400" dirty="0"/>
              <a:t>1.4</a:t>
            </a:r>
            <a:r>
              <a:rPr lang="zh-CN" altLang="en-US" sz="2400" dirty="0"/>
              <a:t>参考资料</a:t>
            </a:r>
          </a:p>
          <a:p>
            <a:pPr marL="0" indent="0">
              <a:buNone/>
            </a:pPr>
            <a:r>
              <a:rPr lang="en-US" altLang="zh-CN" sz="2400" dirty="0"/>
              <a:t>a)</a:t>
            </a:r>
            <a:r>
              <a:rPr lang="zh-CN" altLang="en-US" sz="2400" dirty="0"/>
              <a:t>图书馆借阅管理系统需求规格说明书</a:t>
            </a:r>
          </a:p>
          <a:p>
            <a:pPr marL="0" indent="0">
              <a:buNone/>
            </a:pPr>
            <a:r>
              <a:rPr lang="en-US" altLang="zh-CN" sz="2400" dirty="0"/>
              <a:t>b)</a:t>
            </a:r>
            <a:r>
              <a:rPr lang="zh-CN" altLang="en-US" sz="2400" dirty="0"/>
              <a:t>图书馆借阅管理系统总体设计和详细设计</a:t>
            </a:r>
          </a:p>
          <a:p>
            <a:pPr marL="0" indent="0">
              <a:buNone/>
            </a:pPr>
            <a:r>
              <a:rPr lang="en-US" altLang="zh-CN" sz="2400" dirty="0"/>
              <a:t>2</a:t>
            </a:r>
            <a:r>
              <a:rPr lang="zh-CN" altLang="en-US" sz="2400" dirty="0"/>
              <a:t>计划</a:t>
            </a:r>
          </a:p>
          <a:p>
            <a:pPr marL="0" indent="0">
              <a:buNone/>
            </a:pPr>
            <a:r>
              <a:rPr lang="en-US" altLang="zh-CN" sz="2400" dirty="0"/>
              <a:t>2.1</a:t>
            </a:r>
            <a:r>
              <a:rPr lang="zh-CN" altLang="en-US" sz="2400" dirty="0"/>
              <a:t>软件说明</a:t>
            </a:r>
          </a:p>
          <a:p>
            <a:pPr marL="0" indent="0">
              <a:buNone/>
            </a:pPr>
            <a:r>
              <a:rPr lang="zh-CN" altLang="en-US" sz="2400" dirty="0"/>
              <a:t>本测试计划针对于读者类型功能。</a:t>
            </a:r>
          </a:p>
          <a:p>
            <a:endParaRPr lang="zh-CN" altLang="en-US" sz="2400" dirty="0"/>
          </a:p>
        </p:txBody>
      </p:sp>
      <p:sp>
        <p:nvSpPr>
          <p:cNvPr id="5" name="标题 4"/>
          <p:cNvSpPr>
            <a:spLocks noGrp="1"/>
          </p:cNvSpPr>
          <p:nvPr>
            <p:ph type="ctrTitle"/>
          </p:nvPr>
        </p:nvSpPr>
        <p:spPr>
          <a:xfrm>
            <a:off x="0" y="854075"/>
            <a:ext cx="12192635" cy="709295"/>
          </a:xfrm>
        </p:spPr>
        <p:txBody>
          <a:bodyPr/>
          <a:lstStyle/>
          <a:p>
            <a:pPr algn="ctr"/>
            <a:r>
              <a:rPr lang="zh-CN" altLang="en-US" sz="3600" dirty="0" smtClean="0">
                <a:solidFill>
                  <a:srgbClr val="FF0000"/>
                </a:solidFill>
              </a:rPr>
              <a:t>软件计划测试</a:t>
            </a:r>
            <a:r>
              <a:rPr lang="zh-CN" altLang="en-US" sz="3600" dirty="0">
                <a:solidFill>
                  <a:srgbClr val="FF0000"/>
                </a:solidFill>
              </a:rPr>
              <a:t>文档</a:t>
            </a:r>
            <a:endParaRPr lang="zh-CN" alt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847528" y="1259488"/>
            <a:ext cx="7915275" cy="5567680"/>
          </a:xfrm>
          <a:prstGeom prst="rect">
            <a:avLst/>
          </a:prstGeom>
        </p:spPr>
      </p:pic>
      <p:sp>
        <p:nvSpPr>
          <p:cNvPr id="6" name="标题 5"/>
          <p:cNvSpPr>
            <a:spLocks noGrp="1"/>
          </p:cNvSpPr>
          <p:nvPr>
            <p:ph type="ctrTitle"/>
          </p:nvPr>
        </p:nvSpPr>
        <p:spPr>
          <a:xfrm>
            <a:off x="0" y="620688"/>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95487" y="1439228"/>
            <a:ext cx="10566400" cy="3979862"/>
          </a:xfrm>
        </p:spPr>
        <p:txBody>
          <a:bodyPr>
            <a:normAutofit/>
          </a:bodyPr>
          <a:lstStyle/>
          <a:p>
            <a:pPr marL="0" indent="0">
              <a:buNone/>
            </a:pPr>
            <a:r>
              <a:rPr lang="en-US" altLang="zh-CN" sz="2000" dirty="0"/>
              <a:t>2.3.2</a:t>
            </a:r>
            <a:r>
              <a:rPr lang="zh-CN" altLang="en-US" sz="2000" dirty="0"/>
              <a:t>条件</a:t>
            </a:r>
          </a:p>
          <a:p>
            <a:pPr marL="0" indent="0">
              <a:buNone/>
            </a:pPr>
            <a:r>
              <a:rPr lang="en-US" altLang="zh-CN" sz="2000" dirty="0" err="1"/>
              <a:t>a.PC</a:t>
            </a:r>
            <a:r>
              <a:rPr lang="zh-CN" altLang="en-US" sz="2000" dirty="0"/>
              <a:t>终端和服务器</a:t>
            </a:r>
          </a:p>
          <a:p>
            <a:pPr marL="0" indent="0">
              <a:buNone/>
            </a:pPr>
            <a:r>
              <a:rPr lang="en-US" altLang="zh-CN" sz="2000" dirty="0"/>
              <a:t>b.</a:t>
            </a:r>
            <a:r>
              <a:rPr lang="zh-CN" altLang="en-US" sz="2000" dirty="0"/>
              <a:t>操作系统和数据库的安装</a:t>
            </a:r>
          </a:p>
          <a:p>
            <a:pPr marL="0" indent="0">
              <a:buNone/>
            </a:pPr>
            <a:r>
              <a:rPr lang="en-US" altLang="zh-CN" sz="2000" dirty="0"/>
              <a:t>c.</a:t>
            </a:r>
            <a:r>
              <a:rPr lang="zh-CN" altLang="en-US" sz="2000" dirty="0"/>
              <a:t>网络连接</a:t>
            </a:r>
          </a:p>
          <a:p>
            <a:pPr marL="0" indent="0">
              <a:buNone/>
            </a:pPr>
            <a:r>
              <a:rPr lang="en-US" altLang="zh-CN" sz="2000" dirty="0"/>
              <a:t>2.3.3</a:t>
            </a:r>
            <a:r>
              <a:rPr lang="zh-CN" altLang="en-US" sz="2000" dirty="0"/>
              <a:t>测试资料</a:t>
            </a:r>
          </a:p>
          <a:p>
            <a:pPr marL="0" indent="0">
              <a:buNone/>
            </a:pPr>
            <a:r>
              <a:rPr lang="zh-CN" altLang="en-US" sz="2000" dirty="0"/>
              <a:t> 读者类型编辑模块中，需要输入读者类型名、书本最大借阅量、最长借阅期限和续借天数；输出则是读者类型表，并显示操作结果。性能要求则是能能快速判断用户所填各种值，并做出相应的操作。</a:t>
            </a:r>
          </a:p>
          <a:p>
            <a:pPr marL="0" indent="0">
              <a:buNone/>
            </a:pPr>
            <a:r>
              <a:rPr lang="zh-CN" altLang="en-US" sz="2000" dirty="0"/>
              <a:t>测试的输入和输出举例；</a:t>
            </a:r>
          </a:p>
          <a:p>
            <a:endParaRPr lang="zh-CN" altLang="en-US" sz="2000" dirty="0"/>
          </a:p>
        </p:txBody>
      </p:sp>
      <p:pic>
        <p:nvPicPr>
          <p:cNvPr id="4" name="图片 3"/>
          <p:cNvPicPr>
            <a:picLocks noChangeAspect="1"/>
          </p:cNvPicPr>
          <p:nvPr/>
        </p:nvPicPr>
        <p:blipFill>
          <a:blip r:embed="rId2" cstate="print"/>
          <a:stretch>
            <a:fillRect/>
          </a:stretch>
        </p:blipFill>
        <p:spPr>
          <a:xfrm>
            <a:off x="3154045" y="3721735"/>
            <a:ext cx="8679180" cy="313690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2135505" y="1655445"/>
            <a:ext cx="7920990" cy="5202555"/>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31775" y="1563370"/>
            <a:ext cx="11697970" cy="5128260"/>
          </a:xfrm>
        </p:spPr>
        <p:txBody>
          <a:bodyPr>
            <a:normAutofit fontScale="67500" lnSpcReduction="20000"/>
          </a:bodyPr>
          <a:lstStyle/>
          <a:p>
            <a:pPr marL="0" indent="0">
              <a:buNone/>
            </a:pPr>
            <a:r>
              <a:rPr lang="en-US" altLang="zh-CN" dirty="0"/>
              <a:t>2.5</a:t>
            </a:r>
            <a:r>
              <a:rPr lang="zh-CN" altLang="en-US" dirty="0"/>
              <a:t>运行时间的测试</a:t>
            </a:r>
          </a:p>
          <a:p>
            <a:pPr marL="0" indent="0">
              <a:buNone/>
            </a:pPr>
            <a:r>
              <a:rPr lang="zh-CN" altLang="en-US" dirty="0"/>
              <a:t> 可以通过增加辅助测试代码计算读者类型编辑功能中各个数据操作的执行时间。</a:t>
            </a:r>
          </a:p>
          <a:p>
            <a:pPr marL="0" indent="0">
              <a:buNone/>
            </a:pPr>
            <a:r>
              <a:rPr lang="en-US" altLang="zh-CN" dirty="0"/>
              <a:t>2.5.1</a:t>
            </a:r>
            <a:r>
              <a:rPr lang="zh-CN" altLang="en-US" dirty="0"/>
              <a:t>进度安排</a:t>
            </a:r>
          </a:p>
          <a:p>
            <a:pPr marL="0" indent="0">
              <a:buNone/>
            </a:pPr>
            <a:r>
              <a:rPr lang="en-US" altLang="zh-CN" dirty="0"/>
              <a:t>2015.3.6</a:t>
            </a:r>
            <a:r>
              <a:rPr lang="zh-CN" altLang="en-US" dirty="0"/>
              <a:t>上午</a:t>
            </a:r>
            <a:r>
              <a:rPr lang="en-US" altLang="zh-CN" dirty="0"/>
              <a:t>——</a:t>
            </a:r>
            <a:r>
              <a:rPr lang="zh-CN" altLang="en-US" dirty="0"/>
              <a:t>掌握时间测试代码、明确测试要点，准备测试数据</a:t>
            </a:r>
          </a:p>
          <a:p>
            <a:pPr marL="0" indent="0">
              <a:buNone/>
            </a:pPr>
            <a:r>
              <a:rPr lang="en-US" altLang="zh-CN" dirty="0"/>
              <a:t>2015.3.6</a:t>
            </a:r>
            <a:r>
              <a:rPr lang="zh-CN" altLang="en-US" dirty="0"/>
              <a:t>下午</a:t>
            </a:r>
            <a:r>
              <a:rPr lang="en-US" altLang="zh-CN" dirty="0"/>
              <a:t>——</a:t>
            </a:r>
            <a:r>
              <a:rPr lang="zh-CN" altLang="en-US" dirty="0"/>
              <a:t>实例测试、记录过程并分析结果</a:t>
            </a:r>
          </a:p>
          <a:p>
            <a:pPr marL="0" indent="0">
              <a:buNone/>
            </a:pPr>
            <a:r>
              <a:rPr lang="en-US" altLang="zh-CN" dirty="0"/>
              <a:t>2.5.2</a:t>
            </a:r>
            <a:r>
              <a:rPr lang="zh-CN" altLang="en-US" dirty="0"/>
              <a:t>测试资料</a:t>
            </a:r>
          </a:p>
          <a:p>
            <a:pPr marL="0" indent="0">
              <a:buNone/>
            </a:pPr>
            <a:r>
              <a:rPr lang="zh-CN" altLang="en-US" dirty="0"/>
              <a:t>    图书馆借阅系统中关于数据库服务器对于数据请求的响应需求，例如查询结果返回的时间。    测试用例无特殊输入和输出，主要通过执行各个数据操作，获得实际运行时间。</a:t>
            </a:r>
          </a:p>
          <a:p>
            <a:pPr marL="0" indent="0">
              <a:buNone/>
            </a:pPr>
            <a:r>
              <a:rPr lang="en-US" altLang="zh-CN" dirty="0"/>
              <a:t>3</a:t>
            </a:r>
            <a:r>
              <a:rPr lang="zh-CN" altLang="en-US" dirty="0"/>
              <a:t>测试设计说明</a:t>
            </a:r>
          </a:p>
          <a:p>
            <a:pPr marL="0" indent="0">
              <a:buNone/>
            </a:pPr>
            <a:r>
              <a:rPr lang="en-US" altLang="zh-CN" dirty="0"/>
              <a:t>3.1</a:t>
            </a:r>
            <a:r>
              <a:rPr lang="zh-CN" altLang="en-US" dirty="0"/>
              <a:t>模块功能测试</a:t>
            </a:r>
          </a:p>
          <a:p>
            <a:pPr marL="0" indent="0">
              <a:buNone/>
            </a:pPr>
            <a:r>
              <a:rPr lang="zh-CN" altLang="en-US" dirty="0"/>
              <a:t>本测试在完成代码编写基础上进行，及时发现错误并进行调试，保证模块功能的正确性和稳定性。</a:t>
            </a:r>
          </a:p>
          <a:p>
            <a:pPr marL="0" indent="0">
              <a:buNone/>
            </a:pPr>
            <a:r>
              <a:rPr lang="en-US" altLang="zh-CN" dirty="0"/>
              <a:t>3.1.1</a:t>
            </a:r>
            <a:r>
              <a:rPr lang="zh-CN" altLang="en-US" dirty="0"/>
              <a:t>控制</a:t>
            </a:r>
          </a:p>
          <a:p>
            <a:pPr marL="0" indent="0">
              <a:buNone/>
            </a:pPr>
            <a:r>
              <a:rPr lang="zh-CN" altLang="en-US" dirty="0"/>
              <a:t>对于本测试的控制方式，输入主要是人工方式。记录测试结果并配以必要的截图。</a:t>
            </a:r>
          </a:p>
          <a:p>
            <a:pPr marL="0" indent="0">
              <a:buNone/>
            </a:pPr>
            <a:r>
              <a:rPr lang="en-US" altLang="zh-CN" dirty="0"/>
              <a:t>3.1.2</a:t>
            </a:r>
            <a:r>
              <a:rPr lang="zh-CN" altLang="en-US" dirty="0"/>
              <a:t>输入</a:t>
            </a:r>
          </a:p>
          <a:p>
            <a:pPr marL="0" indent="0">
              <a:buNone/>
            </a:pPr>
            <a:r>
              <a:rPr lang="zh-CN" altLang="en-US" dirty="0"/>
              <a:t>所选择的输入数据是符合用户的工作场景，即实际数据。而且为保证模块功能的健壮性，不仅有正确数据，也有异常数据。例如：</a:t>
            </a:r>
          </a:p>
          <a:p>
            <a:endParaRPr lang="zh-CN" altLang="en-US" dirty="0"/>
          </a:p>
        </p:txBody>
      </p:sp>
      <p:sp>
        <p:nvSpPr>
          <p:cNvPr id="5" name="标题 4"/>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889125" y="1563370"/>
            <a:ext cx="8131810" cy="4896485"/>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635" y="1439545"/>
            <a:ext cx="12192000" cy="3979545"/>
          </a:xfrm>
        </p:spPr>
        <p:txBody>
          <a:bodyPr>
            <a:normAutofit/>
          </a:bodyPr>
          <a:lstStyle/>
          <a:p>
            <a:pPr marL="0" indent="0">
              <a:buNone/>
            </a:pPr>
            <a:r>
              <a:rPr lang="en-US" altLang="zh-CN" sz="2000" dirty="0"/>
              <a:t>3.1.4</a:t>
            </a:r>
            <a:r>
              <a:rPr lang="zh-CN" altLang="en-US" sz="2000" dirty="0"/>
              <a:t>过程</a:t>
            </a:r>
          </a:p>
          <a:p>
            <a:pPr marL="0" indent="0">
              <a:buNone/>
            </a:pPr>
            <a:r>
              <a:rPr lang="zh-CN" altLang="en-US" sz="2000" dirty="0"/>
              <a:t>使用白盒测试过程和黑盒测试过程，一一进行测试。</a:t>
            </a:r>
          </a:p>
          <a:p>
            <a:pPr marL="0" indent="0">
              <a:buNone/>
            </a:pPr>
            <a:r>
              <a:rPr lang="en-US" altLang="zh-CN" sz="2000" dirty="0"/>
              <a:t>3.2</a:t>
            </a:r>
            <a:r>
              <a:rPr lang="zh-CN" altLang="en-US" sz="2000" dirty="0"/>
              <a:t>接口正确性测试</a:t>
            </a:r>
          </a:p>
          <a:p>
            <a:pPr marL="0" indent="0">
              <a:buNone/>
            </a:pPr>
            <a:r>
              <a:rPr lang="zh-CN" altLang="en-US" sz="2000" dirty="0"/>
              <a:t>本次是主要针对的是用户接口和过程调用来进行测试，在编码实现基础上，进行实例测试，及时发现接口通信异常，确保模块功能的质量。</a:t>
            </a:r>
          </a:p>
          <a:p>
            <a:pPr marL="0" indent="0">
              <a:buNone/>
            </a:pPr>
            <a:r>
              <a:rPr lang="zh-CN" altLang="en-US" sz="2000" dirty="0"/>
              <a:t> </a:t>
            </a:r>
            <a:r>
              <a:rPr lang="en-US" altLang="zh-CN" sz="2000" dirty="0"/>
              <a:t>3.2.1</a:t>
            </a:r>
            <a:r>
              <a:rPr lang="zh-CN" altLang="en-US" sz="2000" dirty="0"/>
              <a:t>控制</a:t>
            </a:r>
          </a:p>
          <a:p>
            <a:pPr marL="0" indent="0">
              <a:buNone/>
            </a:pPr>
            <a:r>
              <a:rPr lang="zh-CN" altLang="en-US" sz="2000" dirty="0"/>
              <a:t>本测试的输入方式是人工输入。</a:t>
            </a:r>
          </a:p>
          <a:p>
            <a:pPr marL="0" indent="0">
              <a:buNone/>
            </a:pPr>
            <a:r>
              <a:rPr lang="zh-CN" altLang="en-US" sz="2000" dirty="0"/>
              <a:t> </a:t>
            </a:r>
            <a:r>
              <a:rPr lang="en-US" altLang="zh-CN" sz="2000" dirty="0"/>
              <a:t>3.2.2</a:t>
            </a:r>
            <a:r>
              <a:rPr lang="zh-CN" altLang="en-US" sz="2000" dirty="0"/>
              <a:t>输入</a:t>
            </a:r>
          </a:p>
          <a:p>
            <a:pPr marL="0" indent="0">
              <a:buNone/>
            </a:pPr>
            <a:r>
              <a:rPr lang="zh-CN" altLang="en-US" sz="2000" dirty="0"/>
              <a:t> 所选择的输入数据分若干种情况进行一一测试，例如：</a:t>
            </a:r>
          </a:p>
          <a:p>
            <a:endParaRPr lang="zh-CN" altLang="en-US" sz="2000" dirty="0"/>
          </a:p>
        </p:txBody>
      </p:sp>
      <p:pic>
        <p:nvPicPr>
          <p:cNvPr id="4" name="图片 3"/>
          <p:cNvPicPr>
            <a:picLocks noChangeAspect="1"/>
          </p:cNvPicPr>
          <p:nvPr/>
        </p:nvPicPr>
        <p:blipFill>
          <a:blip r:embed="rId2" cstate="print"/>
          <a:stretch>
            <a:fillRect/>
          </a:stretch>
        </p:blipFill>
        <p:spPr>
          <a:xfrm>
            <a:off x="3956229" y="4623296"/>
            <a:ext cx="6984776" cy="2341121"/>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436880" y="1563370"/>
            <a:ext cx="11383645" cy="4845050"/>
          </a:xfrm>
        </p:spPr>
        <p:txBody>
          <a:bodyPr>
            <a:normAutofit fontScale="75000" lnSpcReduction="20000"/>
          </a:bodyPr>
          <a:lstStyle/>
          <a:p>
            <a:pPr marL="0" indent="0">
              <a:buNone/>
            </a:pPr>
            <a:r>
              <a:rPr lang="en-US" altLang="zh-CN" dirty="0"/>
              <a:t>3.2.3 </a:t>
            </a:r>
            <a:r>
              <a:rPr lang="zh-CN" altLang="en-US" dirty="0"/>
              <a:t>输出</a:t>
            </a:r>
          </a:p>
          <a:p>
            <a:pPr marL="0" indent="0">
              <a:buNone/>
            </a:pPr>
            <a:r>
              <a:rPr lang="zh-CN" altLang="en-US" dirty="0"/>
              <a:t> 由于是数据库操作，因此输出内容除了表明操作是否成功，以及各类数据错误的捕捉与提示，还有可能出现数据库自定义的提示信息。</a:t>
            </a:r>
          </a:p>
          <a:p>
            <a:pPr marL="0" indent="0">
              <a:buNone/>
            </a:pPr>
            <a:r>
              <a:rPr lang="zh-CN" altLang="en-US" dirty="0"/>
              <a:t> </a:t>
            </a:r>
            <a:r>
              <a:rPr lang="en-US" altLang="zh-CN" dirty="0"/>
              <a:t>3.2.4</a:t>
            </a:r>
            <a:r>
              <a:rPr lang="zh-CN" altLang="en-US" dirty="0"/>
              <a:t>过程</a:t>
            </a:r>
          </a:p>
          <a:p>
            <a:pPr marL="0" indent="0">
              <a:buNone/>
            </a:pPr>
            <a:r>
              <a:rPr lang="zh-CN" altLang="en-US" dirty="0"/>
              <a:t> 界面测试、白盒测试、黑盒测试均可应用在此测试设计中。</a:t>
            </a:r>
          </a:p>
          <a:p>
            <a:pPr marL="0" indent="0">
              <a:buNone/>
            </a:pPr>
            <a:r>
              <a:rPr lang="zh-CN" altLang="en-US" dirty="0"/>
              <a:t> </a:t>
            </a:r>
            <a:r>
              <a:rPr lang="en-US" altLang="zh-CN" dirty="0"/>
              <a:t>3.4</a:t>
            </a:r>
            <a:r>
              <a:rPr lang="zh-CN" altLang="en-US" dirty="0"/>
              <a:t>运行时间测试</a:t>
            </a:r>
          </a:p>
          <a:p>
            <a:pPr marL="0" indent="0">
              <a:buNone/>
            </a:pPr>
            <a:r>
              <a:rPr lang="zh-CN" altLang="en-US" dirty="0"/>
              <a:t>依据图书馆借阅系统规格说明书，在编码实现基础上，进行实例测试，记录并分析模块功能的执行时间，对异常运行或超长运行时间部分作出修改和优化。</a:t>
            </a:r>
          </a:p>
          <a:p>
            <a:pPr marL="0" indent="0">
              <a:buNone/>
            </a:pPr>
            <a:r>
              <a:rPr lang="en-US" altLang="zh-CN" dirty="0"/>
              <a:t>3.4.1</a:t>
            </a:r>
            <a:r>
              <a:rPr lang="zh-CN" altLang="en-US" dirty="0"/>
              <a:t>控制</a:t>
            </a:r>
          </a:p>
          <a:p>
            <a:pPr marL="0" indent="0">
              <a:buNone/>
            </a:pPr>
            <a:r>
              <a:rPr lang="zh-CN" altLang="en-US" dirty="0"/>
              <a:t> 本测试活动的输入方式有人工，也有由数据生成器产生的大量批量数据。并且需要添加必要的计算运行时间的代码。</a:t>
            </a:r>
          </a:p>
          <a:p>
            <a:pPr marL="0" indent="0">
              <a:buNone/>
            </a:pPr>
            <a:r>
              <a:rPr lang="zh-CN" altLang="en-US" dirty="0"/>
              <a:t> </a:t>
            </a:r>
            <a:r>
              <a:rPr lang="en-US" altLang="zh-CN" dirty="0"/>
              <a:t>3.4.2</a:t>
            </a:r>
            <a:r>
              <a:rPr lang="zh-CN" altLang="en-US" dirty="0"/>
              <a:t>输入</a:t>
            </a:r>
          </a:p>
          <a:p>
            <a:pPr marL="0" indent="0">
              <a:buNone/>
            </a:pPr>
            <a:r>
              <a:rPr lang="zh-CN" altLang="en-US" dirty="0"/>
              <a:t> 本测试活动无特殊输入数据，主要执行模块功能。</a:t>
            </a:r>
          </a:p>
          <a:p>
            <a:pPr marL="0" indent="0">
              <a:buNone/>
            </a:pPr>
            <a:r>
              <a:rPr lang="zh-CN" altLang="en-US" dirty="0"/>
              <a:t> </a:t>
            </a:r>
            <a:r>
              <a:rPr lang="en-US" altLang="zh-CN" dirty="0"/>
              <a:t>3.4.3</a:t>
            </a:r>
            <a:r>
              <a:rPr lang="zh-CN" altLang="en-US" dirty="0"/>
              <a:t>输出</a:t>
            </a:r>
          </a:p>
          <a:p>
            <a:pPr marL="0" indent="0">
              <a:buNone/>
            </a:pPr>
            <a:r>
              <a:rPr lang="zh-CN" altLang="en-US" dirty="0"/>
              <a:t> 本测试活动无特殊输出，主要输出为运行时间值。</a:t>
            </a:r>
          </a:p>
          <a:p>
            <a:endParaRPr lang="zh-CN" altLang="en-US" dirty="0"/>
          </a:p>
        </p:txBody>
      </p:sp>
      <p:sp>
        <p:nvSpPr>
          <p:cNvPr id="5" name="标题 4"/>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310005" y="1586865"/>
            <a:ext cx="9931400" cy="4984115"/>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软件计划测试文档</a:t>
            </a:r>
            <a:endParaRPr lang="zh-CN" alt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32622" y="1563053"/>
            <a:ext cx="10566400" cy="3979862"/>
          </a:xfrm>
        </p:spPr>
        <p:txBody>
          <a:bodyPr>
            <a:normAutofit/>
          </a:bodyPr>
          <a:lstStyle/>
          <a:p>
            <a:r>
              <a:rPr lang="zh-CN" altLang="en-US" dirty="0"/>
              <a:t>表</a:t>
            </a:r>
            <a:r>
              <a:rPr lang="en-US" altLang="zh-CN" dirty="0"/>
              <a:t>7-26 </a:t>
            </a:r>
            <a:r>
              <a:rPr lang="zh-CN" altLang="en-US" dirty="0"/>
              <a:t>测试总结报告标准文档</a:t>
            </a:r>
          </a:p>
        </p:txBody>
      </p:sp>
      <p:pic>
        <p:nvPicPr>
          <p:cNvPr id="4" name="图片 3"/>
          <p:cNvPicPr>
            <a:picLocks noChangeAspect="1"/>
          </p:cNvPicPr>
          <p:nvPr/>
        </p:nvPicPr>
        <p:blipFill>
          <a:blip r:embed="rId2" cstate="print"/>
          <a:stretch>
            <a:fillRect/>
          </a:stretch>
        </p:blipFill>
        <p:spPr>
          <a:xfrm>
            <a:off x="2692837" y="2057802"/>
            <a:ext cx="7571184" cy="455891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smtClean="0">
                <a:solidFill>
                  <a:srgbClr val="FF0000"/>
                </a:solidFill>
              </a:rPr>
              <a:t>软件总结测试</a:t>
            </a:r>
            <a:r>
              <a:rPr lang="zh-CN" altLang="en-US" sz="3600" dirty="0">
                <a:solidFill>
                  <a:srgbClr val="FF0000"/>
                </a:solidFill>
              </a:rPr>
              <a:t>文档</a:t>
            </a:r>
            <a:endParaRPr lang="zh-CN" alt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807845" y="1563370"/>
            <a:ext cx="8274685" cy="531495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软件总结测试文档</a:t>
            </a:r>
            <a:endParaRPr lang="zh-CN" alt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541145" y="1793875"/>
            <a:ext cx="9815195" cy="494538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软件总结测试文档</a:t>
            </a:r>
            <a:endParaRPr lang="zh-CN" alt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734185" y="1563370"/>
            <a:ext cx="8724900" cy="525399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软件总结测试文档</a:t>
            </a:r>
            <a:endParaRPr lang="zh-CN" alt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1936750" y="1563370"/>
            <a:ext cx="8792845" cy="529463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软件总结测试文档</a:t>
            </a:r>
            <a:endParaRPr lang="zh-CN" alt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4294967295"/>
          </p:nvPr>
        </p:nvPicPr>
        <p:blipFill>
          <a:blip r:embed="rId2" cstate="print"/>
          <a:stretch>
            <a:fillRect/>
          </a:stretch>
        </p:blipFill>
        <p:spPr>
          <a:xfrm>
            <a:off x="2316480" y="1563370"/>
            <a:ext cx="7560310" cy="4856480"/>
          </a:xfrm>
          <a:prstGeom prst="rect">
            <a:avLst/>
          </a:prstGeom>
        </p:spPr>
      </p:pic>
      <p:sp>
        <p:nvSpPr>
          <p:cNvPr id="6" name="标题 5"/>
          <p:cNvSpPr>
            <a:spLocks noGrp="1"/>
          </p:cNvSpPr>
          <p:nvPr>
            <p:ph type="ctrTitle"/>
          </p:nvPr>
        </p:nvSpPr>
        <p:spPr>
          <a:xfrm>
            <a:off x="0" y="854075"/>
            <a:ext cx="12192635" cy="709295"/>
          </a:xfrm>
        </p:spPr>
        <p:txBody>
          <a:bodyPr/>
          <a:lstStyle/>
          <a:p>
            <a:pPr algn="ctr"/>
            <a:r>
              <a:rPr lang="zh-CN" altLang="en-US" sz="3600" dirty="0">
                <a:solidFill>
                  <a:srgbClr val="FF0000"/>
                </a:solidFill>
              </a:rPr>
              <a:t>软件总结测试文档</a:t>
            </a:r>
            <a:endParaRPr lang="zh-CN" altLang="en-US" sz="36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ZmZTNjMmM1OGMyOTY5NWI0ODk5OTA5NDZjZDQ1ODgifQ=="/>
  <p:tag name="KSO_WPP_MARK_KEY" val="9251a853-4a2f-4965-ad2b-341144eff94e"/>
</p:tagLst>
</file>

<file path=ppt/theme/theme1.xml><?xml version="1.0" encoding="utf-8"?>
<a:theme xmlns:a="http://schemas.openxmlformats.org/drawingml/2006/main" name="教材母版">
  <a:themeElements>
    <a:clrScheme name="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教材母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教材母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材母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材母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材母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材母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材母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教材母版">
  <a:themeElements>
    <a:clrScheme name="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教材母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教材母版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材母版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材母版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材母版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材母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材母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材母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1069</Words>
  <Application>Microsoft Office PowerPoint</Application>
  <PresentationFormat>自定义</PresentationFormat>
  <Paragraphs>130</Paragraphs>
  <Slides>24</Slides>
  <Notes>0</Notes>
  <HiddenSlides>0</HiddenSlides>
  <MMClips>0</MMClips>
  <ScaleCrop>false</ScaleCrop>
  <HeadingPairs>
    <vt:vector size="4" baseType="variant">
      <vt:variant>
        <vt:lpstr>主题</vt:lpstr>
      </vt:variant>
      <vt:variant>
        <vt:i4>2</vt:i4>
      </vt:variant>
      <vt:variant>
        <vt:lpstr>幻灯片标题</vt:lpstr>
      </vt:variant>
      <vt:variant>
        <vt:i4>24</vt:i4>
      </vt:variant>
    </vt:vector>
  </HeadingPairs>
  <TitlesOfParts>
    <vt:vector size="26" baseType="lpstr">
      <vt:lpstr>教材母版</vt:lpstr>
      <vt:lpstr>1_教材母版</vt:lpstr>
      <vt:lpstr> 软件工程 </vt:lpstr>
      <vt:lpstr>课程内容安排</vt:lpstr>
      <vt:lpstr>PowerPoint 演示文稿</vt:lpstr>
      <vt:lpstr>内容</vt:lpstr>
      <vt:lpstr>  成立软件测试组织</vt:lpstr>
      <vt:lpstr>  制定和实施软件测试计划（1/2）</vt:lpstr>
      <vt:lpstr>制定和实施软件测试计划（2/2）</vt:lpstr>
      <vt:lpstr>  软件测试的输出</vt:lpstr>
      <vt:lpstr>软件测试文档</vt:lpstr>
      <vt:lpstr>软件计划测试文档</vt:lpstr>
      <vt:lpstr>软件计划测试文档</vt:lpstr>
      <vt:lpstr>软件计划测试文档</vt:lpstr>
      <vt:lpstr>软件计划测试文档</vt:lpstr>
      <vt:lpstr>软件计划测试文档</vt:lpstr>
      <vt:lpstr>软件计划测试文档</vt:lpstr>
      <vt:lpstr>软件计划测试文档</vt:lpstr>
      <vt:lpstr>软件计划测试文档</vt:lpstr>
      <vt:lpstr>软件计划测试文档</vt:lpstr>
      <vt:lpstr>软件总结测试文档</vt:lpstr>
      <vt:lpstr>软件总结测试文档</vt:lpstr>
      <vt:lpstr>软件总结测试文档</vt:lpstr>
      <vt:lpstr>软件总结测试文档</vt:lpstr>
      <vt:lpstr>软件总结测试文档</vt:lpstr>
      <vt:lpstr>软件总结测试文档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gxj</dc:creator>
  <cp:lastModifiedBy>admin</cp:lastModifiedBy>
  <cp:revision>758</cp:revision>
  <dcterms:created xsi:type="dcterms:W3CDTF">2020-03-22T11:13:00Z</dcterms:created>
  <dcterms:modified xsi:type="dcterms:W3CDTF">2023-05-19T01:45:31Z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867AFA60EA07422DB47C4C5277855945</vt:lpwstr>
  </property>
</Properties>
</file>